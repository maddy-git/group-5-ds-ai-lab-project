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Roboto Mono"/>
      <p:regular r:id="rId31"/>
      <p:bold r:id="rId32"/>
      <p:italic r:id="rId33"/>
      <p:boldItalic r:id="rId34"/>
    </p:embeddedFont>
    <p:embeddedFont>
      <p:font typeface="Comforta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RobotoMono-italic.fntdata"/><Relationship Id="rId10" Type="http://schemas.openxmlformats.org/officeDocument/2006/relationships/slide" Target="slides/slide5.xml"/><Relationship Id="rId32" Type="http://schemas.openxmlformats.org/officeDocument/2006/relationships/font" Target="fonts/RobotoMono-bold.fntdata"/><Relationship Id="rId13" Type="http://schemas.openxmlformats.org/officeDocument/2006/relationships/slide" Target="slides/slide8.xml"/><Relationship Id="rId35" Type="http://schemas.openxmlformats.org/officeDocument/2006/relationships/font" Target="fonts/Comfortaa-regular.fntdata"/><Relationship Id="rId12" Type="http://schemas.openxmlformats.org/officeDocument/2006/relationships/slide" Target="slides/slide7.xml"/><Relationship Id="rId34" Type="http://schemas.openxmlformats.org/officeDocument/2006/relationships/font" Target="fonts/RobotoMono-boldItalic.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Comforta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6aa37c126_3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6aa37c126_3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6b97a3bf6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6b97a3bf6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6aa37c1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6aa37c1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6aa37c12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6aa37c12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6aa37c12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6aa37c1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6aa37c126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6aa37c126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fc2199ef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fc2199ef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8fc2199ef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8fc2199ef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8fc2199ef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8fc2199ef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fc2199ef_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8fc2199ef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8fc2199ef_7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8fc2199ef_7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8fc2199ef_7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8fc2199ef_7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6aa37c12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6aa37c12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6aa37c126_3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6aa37c126_3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6aa37c12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6aa37c12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6aa37c126_3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6aa37c126_3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6aa37c12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6aa37c12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8fc2199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8fc2199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8fc2199e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a8fc2199e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8fc2199ef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8fc2199ef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 Id="rId11" Type="http://schemas.openxmlformats.org/officeDocument/2006/relationships/image" Target="../media/image20.png"/><Relationship Id="rId10" Type="http://schemas.openxmlformats.org/officeDocument/2006/relationships/image" Target="../media/image19.png"/><Relationship Id="rId12" Type="http://schemas.openxmlformats.org/officeDocument/2006/relationships/image" Target="../media/image23.png"/><Relationship Id="rId9" Type="http://schemas.openxmlformats.org/officeDocument/2006/relationships/image" Target="../media/image21.png"/><Relationship Id="rId5" Type="http://schemas.openxmlformats.org/officeDocument/2006/relationships/image" Target="../media/image28.png"/><Relationship Id="rId6" Type="http://schemas.openxmlformats.org/officeDocument/2006/relationships/image" Target="../media/image18.png"/><Relationship Id="rId7" Type="http://schemas.openxmlformats.org/officeDocument/2006/relationships/image" Target="../media/image27.png"/><Relationship Id="rId8"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rive.google.com/file/d/1kwfG4uP2XYvc8-jhg2XKa0OJV7NcyPN6/view?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cs.google.com/spreadsheets/d/1Vb-UtJMY08MMfZTMcXI8ItL3WcVWtVzAcA7Nrsk1_io/edit?usp=drive_lin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docs.google.com/spreadsheets/d/11B68WnwN7omTxreHqbl2SNMprubBCitPI5THU__ij6c" TargetMode="External"/><Relationship Id="rId4" Type="http://schemas.openxmlformats.org/officeDocument/2006/relationships/image" Target="../media/image16.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mt="75000"/>
          </a:blip>
          <a:stretch>
            <a:fillRect/>
          </a:stretch>
        </p:blipFill>
        <p:spPr>
          <a:xfrm>
            <a:off x="0" y="-474349"/>
            <a:ext cx="9144000" cy="6092189"/>
          </a:xfrm>
          <a:prstGeom prst="rect">
            <a:avLst/>
          </a:prstGeom>
          <a:noFill/>
          <a:ln>
            <a:noFill/>
          </a:ln>
        </p:spPr>
      </p:pic>
      <p:sp>
        <p:nvSpPr>
          <p:cNvPr id="55" name="Google Shape;55;p13"/>
          <p:cNvSpPr txBox="1"/>
          <p:nvPr/>
        </p:nvSpPr>
        <p:spPr>
          <a:xfrm>
            <a:off x="1353450" y="1481025"/>
            <a:ext cx="6437100" cy="1469700"/>
          </a:xfrm>
          <a:prstGeom prst="rect">
            <a:avLst/>
          </a:prstGeom>
          <a:noFill/>
          <a:ln>
            <a:noFill/>
          </a:ln>
        </p:spPr>
        <p:txBody>
          <a:bodyPr anchorCtr="0" anchor="t" bIns="91425" lIns="91425" spcFirstLastPara="1" rIns="91425" wrap="square" tIns="91425">
            <a:noAutofit/>
          </a:bodyPr>
          <a:lstStyle/>
          <a:p>
            <a:pPr indent="0" lvl="0" marL="457200" rtl="0" algn="ctr">
              <a:lnSpc>
                <a:spcPct val="115000"/>
              </a:lnSpc>
              <a:spcBef>
                <a:spcPts val="1200"/>
              </a:spcBef>
              <a:spcAft>
                <a:spcPts val="1200"/>
              </a:spcAft>
              <a:buClr>
                <a:schemeClr val="dk1"/>
              </a:buClr>
              <a:buSzPts val="1100"/>
              <a:buFont typeface="Arial"/>
              <a:buNone/>
            </a:pPr>
            <a:r>
              <a:rPr lang="en" sz="3000">
                <a:latin typeface="Comfortaa"/>
                <a:ea typeface="Comfortaa"/>
                <a:cs typeface="Comfortaa"/>
                <a:sym typeface="Comfortaa"/>
              </a:rPr>
              <a:t>Clothing Assistant Chatbot with Retrieval-Augmented Generation</a:t>
            </a:r>
            <a:endParaRPr sz="2200">
              <a:latin typeface="Comfortaa"/>
              <a:ea typeface="Comfortaa"/>
              <a:cs typeface="Comfortaa"/>
              <a:sym typeface="Comfortaa"/>
            </a:endParaRPr>
          </a:p>
        </p:txBody>
      </p:sp>
      <p:sp>
        <p:nvSpPr>
          <p:cNvPr id="56" name="Google Shape;56;p13"/>
          <p:cNvSpPr txBox="1"/>
          <p:nvPr/>
        </p:nvSpPr>
        <p:spPr>
          <a:xfrm>
            <a:off x="102175" y="3959650"/>
            <a:ext cx="5630400" cy="1225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C180F8"/>
              </a:buClr>
              <a:buSzPts val="1300"/>
              <a:buChar char="●"/>
            </a:pPr>
            <a:r>
              <a:rPr b="1" lang="en" sz="1300">
                <a:solidFill>
                  <a:srgbClr val="C180F8"/>
                </a:solidFill>
              </a:rPr>
              <a:t>Madhav (21f1004828@ds.study.iitm.ac.in)</a:t>
            </a:r>
            <a:endParaRPr b="1" sz="1300">
              <a:solidFill>
                <a:srgbClr val="C180F8"/>
              </a:solidFill>
            </a:endParaRPr>
          </a:p>
          <a:p>
            <a:pPr indent="-311150" lvl="0" marL="457200" rtl="0" algn="l">
              <a:spcBef>
                <a:spcPts val="0"/>
              </a:spcBef>
              <a:spcAft>
                <a:spcPts val="0"/>
              </a:spcAft>
              <a:buClr>
                <a:srgbClr val="C180F8"/>
              </a:buClr>
              <a:buSzPts val="1300"/>
              <a:buChar char="●"/>
            </a:pPr>
            <a:r>
              <a:rPr b="1" lang="en" sz="1300">
                <a:solidFill>
                  <a:srgbClr val="C180F8"/>
                </a:solidFill>
              </a:rPr>
              <a:t>Manish  (21f1005330@ds.study.iitm.ac.in)</a:t>
            </a:r>
            <a:endParaRPr b="1" sz="1300">
              <a:solidFill>
                <a:srgbClr val="C180F8"/>
              </a:solidFill>
            </a:endParaRPr>
          </a:p>
          <a:p>
            <a:pPr indent="-311150" lvl="0" marL="457200" rtl="0" algn="l">
              <a:spcBef>
                <a:spcPts val="0"/>
              </a:spcBef>
              <a:spcAft>
                <a:spcPts val="0"/>
              </a:spcAft>
              <a:buClr>
                <a:srgbClr val="C180F8"/>
              </a:buClr>
              <a:buSzPts val="1300"/>
              <a:buChar char="●"/>
            </a:pPr>
            <a:r>
              <a:rPr b="1" lang="en" sz="1300">
                <a:solidFill>
                  <a:srgbClr val="C180F8"/>
                </a:solidFill>
              </a:rPr>
              <a:t>Neeraj   (21f3002261@ds.study.iitm.ac.in)</a:t>
            </a:r>
            <a:endParaRPr b="1" sz="1300">
              <a:solidFill>
                <a:srgbClr val="C180F8"/>
              </a:solidFill>
            </a:endParaRPr>
          </a:p>
          <a:p>
            <a:pPr indent="-311150" lvl="0" marL="457200" rtl="0" algn="l">
              <a:spcBef>
                <a:spcPts val="0"/>
              </a:spcBef>
              <a:spcAft>
                <a:spcPts val="0"/>
              </a:spcAft>
              <a:buClr>
                <a:srgbClr val="C180F8"/>
              </a:buClr>
              <a:buSzPts val="1300"/>
              <a:buChar char="●"/>
            </a:pPr>
            <a:r>
              <a:rPr b="1" lang="en" sz="1300">
                <a:solidFill>
                  <a:srgbClr val="C180F8"/>
                </a:solidFill>
              </a:rPr>
              <a:t>Harsha  (23f2005056@ds.study.iitm.ac.in)</a:t>
            </a:r>
            <a:endParaRPr b="1" sz="1300">
              <a:solidFill>
                <a:srgbClr val="C180F8"/>
              </a:solidFill>
            </a:endParaRPr>
          </a:p>
          <a:p>
            <a:pPr indent="-311150" lvl="0" marL="457200" rtl="0" algn="l">
              <a:spcBef>
                <a:spcPts val="0"/>
              </a:spcBef>
              <a:spcAft>
                <a:spcPts val="0"/>
              </a:spcAft>
              <a:buClr>
                <a:srgbClr val="C180F8"/>
              </a:buClr>
              <a:buSzPts val="1300"/>
              <a:buChar char="●"/>
            </a:pPr>
            <a:r>
              <a:rPr b="1" lang="en" sz="1300">
                <a:solidFill>
                  <a:srgbClr val="C180F8"/>
                </a:solidFill>
              </a:rPr>
              <a:t>Adarsh  (21f2000283@ds.study.iitm.ac.in)</a:t>
            </a:r>
            <a:endParaRPr b="1" sz="1300">
              <a:solidFill>
                <a:srgbClr val="C180F8"/>
              </a:solidFill>
            </a:endParaRPr>
          </a:p>
        </p:txBody>
      </p:sp>
      <p:sp>
        <p:nvSpPr>
          <p:cNvPr id="57" name="Google Shape;57;p13"/>
          <p:cNvSpPr txBox="1"/>
          <p:nvPr/>
        </p:nvSpPr>
        <p:spPr>
          <a:xfrm>
            <a:off x="102175" y="3541750"/>
            <a:ext cx="1836900" cy="4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C27BA0"/>
                </a:solidFill>
              </a:rPr>
              <a:t>GROUP 5</a:t>
            </a:r>
            <a:endParaRPr b="1" sz="1800">
              <a:solidFill>
                <a:srgbClr val="C27B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1" name="Shape 61"/>
        <p:cNvGrpSpPr/>
        <p:nvPr/>
      </p:nvGrpSpPr>
      <p:grpSpPr>
        <a:xfrm>
          <a:off x="0" y="0"/>
          <a:ext cx="0" cy="0"/>
          <a:chOff x="0" y="0"/>
          <a:chExt cx="0" cy="0"/>
        </a:xfrm>
      </p:grpSpPr>
      <p:pic>
        <p:nvPicPr>
          <p:cNvPr id="62" name="Google Shape;62;p14" title="Gemini_Generated_Image_w0rjatw0rjatw0rj.png"/>
          <p:cNvPicPr preferRelativeResize="0"/>
          <p:nvPr/>
        </p:nvPicPr>
        <p:blipFill>
          <a:blip r:embed="rId3">
            <a:alphaModFix/>
          </a:blip>
          <a:stretch>
            <a:fillRect/>
          </a:stretch>
        </p:blipFill>
        <p:spPr>
          <a:xfrm>
            <a:off x="3652425" y="3629476"/>
            <a:ext cx="1455601" cy="1455601"/>
          </a:xfrm>
          <a:prstGeom prst="rect">
            <a:avLst/>
          </a:prstGeom>
          <a:noFill/>
          <a:ln>
            <a:noFill/>
          </a:ln>
        </p:spPr>
      </p:pic>
      <p:pic>
        <p:nvPicPr>
          <p:cNvPr id="63" name="Google Shape;63;p14" title="Gemini_Generated_Image_1pxiax1pxiax1pxi.png"/>
          <p:cNvPicPr preferRelativeResize="0"/>
          <p:nvPr/>
        </p:nvPicPr>
        <p:blipFill>
          <a:blip r:embed="rId4">
            <a:alphaModFix/>
          </a:blip>
          <a:stretch>
            <a:fillRect/>
          </a:stretch>
        </p:blipFill>
        <p:spPr>
          <a:xfrm>
            <a:off x="1629675" y="3644401"/>
            <a:ext cx="1455601" cy="1455601"/>
          </a:xfrm>
          <a:prstGeom prst="rect">
            <a:avLst/>
          </a:prstGeom>
          <a:noFill/>
          <a:ln>
            <a:noFill/>
          </a:ln>
        </p:spPr>
      </p:pic>
      <p:pic>
        <p:nvPicPr>
          <p:cNvPr id="64" name="Google Shape;64;p14" title="Gemini_Generated_Image_4x2zqn4x2zqn4x2z.png"/>
          <p:cNvPicPr preferRelativeResize="0"/>
          <p:nvPr/>
        </p:nvPicPr>
        <p:blipFill>
          <a:blip r:embed="rId5">
            <a:alphaModFix/>
          </a:blip>
          <a:stretch>
            <a:fillRect/>
          </a:stretch>
        </p:blipFill>
        <p:spPr>
          <a:xfrm>
            <a:off x="88300" y="3635101"/>
            <a:ext cx="1455601" cy="1455601"/>
          </a:xfrm>
          <a:prstGeom prst="rect">
            <a:avLst/>
          </a:prstGeom>
          <a:noFill/>
          <a:ln>
            <a:noFill/>
          </a:ln>
        </p:spPr>
      </p:pic>
      <p:pic>
        <p:nvPicPr>
          <p:cNvPr id="65" name="Google Shape;65;p14" title="Gemini_Generated_Image_t9ccnyt9ccnyt9cc.png"/>
          <p:cNvPicPr preferRelativeResize="0"/>
          <p:nvPr/>
        </p:nvPicPr>
        <p:blipFill>
          <a:blip r:embed="rId6">
            <a:alphaModFix/>
          </a:blip>
          <a:stretch>
            <a:fillRect/>
          </a:stretch>
        </p:blipFill>
        <p:spPr>
          <a:xfrm>
            <a:off x="5011899" y="1287620"/>
            <a:ext cx="1455601" cy="1455601"/>
          </a:xfrm>
          <a:prstGeom prst="rect">
            <a:avLst/>
          </a:prstGeom>
          <a:noFill/>
          <a:ln>
            <a:noFill/>
          </a:ln>
        </p:spPr>
      </p:pic>
      <p:pic>
        <p:nvPicPr>
          <p:cNvPr id="66" name="Google Shape;66;p14" title="Gemini_Generated_Image_b7c4cub7c4cub7c4.png"/>
          <p:cNvPicPr preferRelativeResize="0"/>
          <p:nvPr/>
        </p:nvPicPr>
        <p:blipFill>
          <a:blip r:embed="rId7">
            <a:alphaModFix/>
          </a:blip>
          <a:stretch>
            <a:fillRect/>
          </a:stretch>
        </p:blipFill>
        <p:spPr>
          <a:xfrm>
            <a:off x="3266184" y="1303209"/>
            <a:ext cx="1455601" cy="1455601"/>
          </a:xfrm>
          <a:prstGeom prst="rect">
            <a:avLst/>
          </a:prstGeom>
          <a:noFill/>
          <a:ln>
            <a:noFill/>
          </a:ln>
        </p:spPr>
      </p:pic>
      <p:pic>
        <p:nvPicPr>
          <p:cNvPr id="67" name="Google Shape;67;p14" title="Gemini_Generated_Image_gim5z9gim5z9gim5.png"/>
          <p:cNvPicPr preferRelativeResize="0"/>
          <p:nvPr/>
        </p:nvPicPr>
        <p:blipFill>
          <a:blip r:embed="rId8">
            <a:alphaModFix/>
          </a:blip>
          <a:stretch>
            <a:fillRect/>
          </a:stretch>
        </p:blipFill>
        <p:spPr>
          <a:xfrm>
            <a:off x="49334" y="1318791"/>
            <a:ext cx="1455601" cy="1455601"/>
          </a:xfrm>
          <a:prstGeom prst="rect">
            <a:avLst/>
          </a:prstGeom>
          <a:noFill/>
          <a:ln>
            <a:noFill/>
          </a:ln>
        </p:spPr>
      </p:pic>
      <p:sp>
        <p:nvSpPr>
          <p:cNvPr id="68" name="Google Shape;68;p14"/>
          <p:cNvSpPr/>
          <p:nvPr/>
        </p:nvSpPr>
        <p:spPr>
          <a:xfrm>
            <a:off x="24159" y="258891"/>
            <a:ext cx="1784700" cy="10599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Maya realizes she has only one day left before the engagement party</a:t>
            </a:r>
            <a:endParaRPr sz="1000">
              <a:latin typeface="Roboto"/>
              <a:ea typeface="Roboto"/>
              <a:cs typeface="Roboto"/>
              <a:sym typeface="Roboto"/>
            </a:endParaRPr>
          </a:p>
        </p:txBody>
      </p:sp>
      <p:pic>
        <p:nvPicPr>
          <p:cNvPr id="69" name="Google Shape;69;p14" title="Gemini_Generated_Image_o7k1xio7k1xio7k1.png"/>
          <p:cNvPicPr preferRelativeResize="0"/>
          <p:nvPr/>
        </p:nvPicPr>
        <p:blipFill>
          <a:blip r:embed="rId9">
            <a:alphaModFix/>
          </a:blip>
          <a:stretch>
            <a:fillRect/>
          </a:stretch>
        </p:blipFill>
        <p:spPr>
          <a:xfrm>
            <a:off x="1664272" y="1302558"/>
            <a:ext cx="1455601" cy="1425725"/>
          </a:xfrm>
          <a:prstGeom prst="rect">
            <a:avLst/>
          </a:prstGeom>
          <a:noFill/>
          <a:ln>
            <a:noFill/>
          </a:ln>
        </p:spPr>
      </p:pic>
      <p:sp>
        <p:nvSpPr>
          <p:cNvPr id="70" name="Google Shape;70;p1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1" name="Google Shape;71;p14"/>
          <p:cNvSpPr/>
          <p:nvPr/>
        </p:nvSpPr>
        <p:spPr>
          <a:xfrm>
            <a:off x="1886809" y="25116"/>
            <a:ext cx="1192500" cy="1247100"/>
          </a:xfrm>
          <a:prstGeom prst="wedgeEllipseCallout">
            <a:avLst>
              <a:gd fmla="val -23465" name="adj1"/>
              <a:gd fmla="val 7374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She needs something elegant fast</a:t>
            </a:r>
            <a:endParaRPr sz="1000">
              <a:solidFill>
                <a:schemeClr val="dk1"/>
              </a:solidFill>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p:txBody>
      </p:sp>
      <p:sp>
        <p:nvSpPr>
          <p:cNvPr id="72" name="Google Shape;72;p1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3" name="Google Shape;73;p14"/>
          <p:cNvSpPr/>
          <p:nvPr/>
        </p:nvSpPr>
        <p:spPr>
          <a:xfrm>
            <a:off x="3227209" y="118716"/>
            <a:ext cx="1784700" cy="10599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Maya tries browsing a major retailer for a navy blue jumpsuit.</a:t>
            </a:r>
            <a:endParaRPr sz="1000">
              <a:solidFill>
                <a:schemeClr val="dk1"/>
              </a:solidFill>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p:txBody>
      </p:sp>
      <p:sp>
        <p:nvSpPr>
          <p:cNvPr id="74" name="Google Shape;74;p1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5" name="Google Shape;75;p14"/>
          <p:cNvSpPr/>
          <p:nvPr/>
        </p:nvSpPr>
        <p:spPr>
          <a:xfrm>
            <a:off x="5011909" y="227820"/>
            <a:ext cx="1704900" cy="875700"/>
          </a:xfrm>
          <a:prstGeom prst="wave">
            <a:avLst>
              <a:gd fmla="val 12500" name="adj1"/>
              <a:gd fmla="val -342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0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000">
              <a:solidFill>
                <a:schemeClr val="dk1"/>
              </a:solidFill>
              <a:latin typeface="Roboto"/>
              <a:ea typeface="Roboto"/>
              <a:cs typeface="Roboto"/>
              <a:sym typeface="Roboto"/>
            </a:endParaRPr>
          </a:p>
          <a:p>
            <a:pPr indent="0" lvl="0" marL="0" rtl="0" algn="ctr">
              <a:spcBef>
                <a:spcPts val="0"/>
              </a:spcBef>
              <a:spcAft>
                <a:spcPts val="0"/>
              </a:spcAft>
              <a:buNone/>
            </a:pPr>
            <a:r>
              <a:t/>
            </a:r>
            <a:endParaRPr/>
          </a:p>
        </p:txBody>
      </p:sp>
      <p:pic>
        <p:nvPicPr>
          <p:cNvPr id="76" name="Google Shape;76;p14" title="Gemini_Generated_Image_gim5z9gim5z9gim5.png"/>
          <p:cNvPicPr preferRelativeResize="0"/>
          <p:nvPr/>
        </p:nvPicPr>
        <p:blipFill>
          <a:blip r:embed="rId8">
            <a:alphaModFix/>
          </a:blip>
          <a:stretch>
            <a:fillRect/>
          </a:stretch>
        </p:blipFill>
        <p:spPr>
          <a:xfrm>
            <a:off x="6716859" y="1225273"/>
            <a:ext cx="1455601" cy="1455601"/>
          </a:xfrm>
          <a:prstGeom prst="rect">
            <a:avLst/>
          </a:prstGeom>
          <a:noFill/>
          <a:ln>
            <a:noFill/>
          </a:ln>
        </p:spPr>
      </p:pic>
      <p:sp>
        <p:nvSpPr>
          <p:cNvPr id="77" name="Google Shape;77;p14"/>
          <p:cNvSpPr/>
          <p:nvPr/>
        </p:nvSpPr>
        <p:spPr>
          <a:xfrm>
            <a:off x="6911859" y="-68184"/>
            <a:ext cx="1901400" cy="1340400"/>
          </a:xfrm>
          <a:prstGeom prst="cloudCallout">
            <a:avLst>
              <a:gd fmla="val -20833" name="adj1"/>
              <a:gd fmla="val 62500" name="adj2"/>
            </a:avLst>
          </a:prstGeom>
          <a:solidFill>
            <a:schemeClr val="lt2"/>
          </a:solidFill>
          <a:ln cap="flat" cmpd="sng" w="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She opens a silk-blend</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jumpsuit  but starts worrying about shine, fit, and shipping cutoff.</a:t>
            </a:r>
            <a:endParaRPr sz="900">
              <a:latin typeface="Roboto"/>
              <a:ea typeface="Roboto"/>
              <a:cs typeface="Roboto"/>
              <a:sym typeface="Roboto"/>
            </a:endParaRPr>
          </a:p>
        </p:txBody>
      </p:sp>
      <p:pic>
        <p:nvPicPr>
          <p:cNvPr id="78" name="Google Shape;78;p14" title="Gemini_Generated_Image_bbkj89bbkj89bbkj.png"/>
          <p:cNvPicPr preferRelativeResize="0"/>
          <p:nvPr/>
        </p:nvPicPr>
        <p:blipFill rotWithShape="1">
          <a:blip r:embed="rId10">
            <a:alphaModFix/>
          </a:blip>
          <a:srcRect b="0" l="35279" r="28848" t="5553"/>
          <a:stretch/>
        </p:blipFill>
        <p:spPr>
          <a:xfrm>
            <a:off x="8307550" y="126440"/>
            <a:ext cx="316774" cy="833974"/>
          </a:xfrm>
          <a:prstGeom prst="rect">
            <a:avLst/>
          </a:prstGeom>
          <a:noFill/>
          <a:ln>
            <a:noFill/>
          </a:ln>
        </p:spPr>
      </p:pic>
      <p:sp>
        <p:nvSpPr>
          <p:cNvPr id="79" name="Google Shape;79;p14"/>
          <p:cNvSpPr/>
          <p:nvPr/>
        </p:nvSpPr>
        <p:spPr>
          <a:xfrm>
            <a:off x="63125" y="2992602"/>
            <a:ext cx="1784700" cy="5436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80" name="Google Shape;80;p14"/>
          <p:cNvSpPr txBox="1"/>
          <p:nvPr/>
        </p:nvSpPr>
        <p:spPr>
          <a:xfrm>
            <a:off x="88300" y="3075250"/>
            <a:ext cx="178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a:ea typeface="Roboto"/>
                <a:cs typeface="Roboto"/>
                <a:sym typeface="Roboto"/>
              </a:rPr>
              <a:t>She switches to the Help Center searching for shipping cutoff.</a:t>
            </a:r>
            <a:endParaRPr sz="800">
              <a:latin typeface="Roboto"/>
              <a:ea typeface="Roboto"/>
              <a:cs typeface="Roboto"/>
              <a:sym typeface="Roboto"/>
            </a:endParaRPr>
          </a:p>
        </p:txBody>
      </p:sp>
      <p:sp>
        <p:nvSpPr>
          <p:cNvPr id="81" name="Google Shape;81;p14"/>
          <p:cNvSpPr txBox="1"/>
          <p:nvPr/>
        </p:nvSpPr>
        <p:spPr>
          <a:xfrm rot="454347">
            <a:off x="5066052" y="487067"/>
            <a:ext cx="1791625" cy="32322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300+ results even after filters.</a:t>
            </a:r>
            <a:endParaRPr sz="1300"/>
          </a:p>
        </p:txBody>
      </p:sp>
      <p:sp>
        <p:nvSpPr>
          <p:cNvPr id="82" name="Google Shape;82;p14"/>
          <p:cNvSpPr/>
          <p:nvPr/>
        </p:nvSpPr>
        <p:spPr>
          <a:xfrm>
            <a:off x="1933875" y="2969775"/>
            <a:ext cx="1851000" cy="6003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83" name="Google Shape;83;p14"/>
          <p:cNvSpPr txBox="1"/>
          <p:nvPr/>
        </p:nvSpPr>
        <p:spPr>
          <a:xfrm>
            <a:off x="2013241" y="3014545"/>
            <a:ext cx="165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Roboto"/>
                <a:ea typeface="Roboto"/>
                <a:cs typeface="Roboto"/>
                <a:sym typeface="Roboto"/>
              </a:rPr>
              <a:t>She </a:t>
            </a:r>
            <a:r>
              <a:rPr lang="en" sz="900">
                <a:latin typeface="Roboto"/>
                <a:ea typeface="Roboto"/>
                <a:cs typeface="Roboto"/>
                <a:sym typeface="Roboto"/>
              </a:rPr>
              <a:t>want to</a:t>
            </a:r>
            <a:r>
              <a:rPr lang="en" sz="900">
                <a:latin typeface="Roboto"/>
                <a:ea typeface="Roboto"/>
                <a:cs typeface="Roboto"/>
                <a:sym typeface="Roboto"/>
              </a:rPr>
              <a:t> know about the</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Return policy on this </a:t>
            </a:r>
            <a:r>
              <a:rPr lang="en" sz="900">
                <a:latin typeface="Roboto"/>
                <a:ea typeface="Roboto"/>
                <a:cs typeface="Roboto"/>
                <a:sym typeface="Roboto"/>
              </a:rPr>
              <a:t>product</a:t>
            </a:r>
            <a:endParaRPr sz="900">
              <a:latin typeface="Roboto"/>
              <a:ea typeface="Roboto"/>
              <a:cs typeface="Roboto"/>
              <a:sym typeface="Roboto"/>
            </a:endParaRPr>
          </a:p>
        </p:txBody>
      </p:sp>
      <p:pic>
        <p:nvPicPr>
          <p:cNvPr id="84" name="Google Shape;84;p14" title="Gemini_Generated_Image_6e06gb6e06gb6e06.png"/>
          <p:cNvPicPr preferRelativeResize="0"/>
          <p:nvPr/>
        </p:nvPicPr>
        <p:blipFill>
          <a:blip r:embed="rId11">
            <a:alphaModFix/>
          </a:blip>
          <a:stretch>
            <a:fillRect/>
          </a:stretch>
        </p:blipFill>
        <p:spPr>
          <a:xfrm>
            <a:off x="5799837" y="3536200"/>
            <a:ext cx="1455601" cy="1455601"/>
          </a:xfrm>
          <a:prstGeom prst="rect">
            <a:avLst/>
          </a:prstGeom>
          <a:noFill/>
          <a:ln>
            <a:noFill/>
          </a:ln>
        </p:spPr>
      </p:pic>
      <p:pic>
        <p:nvPicPr>
          <p:cNvPr id="85" name="Google Shape;85;p14" title="Gemini_Generated_Image_r6dwemr6dwemr6dw.png"/>
          <p:cNvPicPr preferRelativeResize="0"/>
          <p:nvPr/>
        </p:nvPicPr>
        <p:blipFill rotWithShape="1">
          <a:blip r:embed="rId12">
            <a:alphaModFix/>
          </a:blip>
          <a:srcRect b="0" l="0" r="0" t="0"/>
          <a:stretch/>
        </p:blipFill>
        <p:spPr>
          <a:xfrm>
            <a:off x="7466800" y="3571275"/>
            <a:ext cx="1385426" cy="1455601"/>
          </a:xfrm>
          <a:prstGeom prst="rect">
            <a:avLst/>
          </a:prstGeom>
          <a:noFill/>
          <a:ln>
            <a:noFill/>
          </a:ln>
        </p:spPr>
      </p:pic>
      <p:sp>
        <p:nvSpPr>
          <p:cNvPr id="86" name="Google Shape;86;p14"/>
          <p:cNvSpPr/>
          <p:nvPr/>
        </p:nvSpPr>
        <p:spPr>
          <a:xfrm>
            <a:off x="3784875" y="2886200"/>
            <a:ext cx="1851000" cy="6003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Roboto"/>
                <a:ea typeface="Roboto"/>
                <a:cs typeface="Roboto"/>
                <a:sym typeface="Roboto"/>
              </a:rPr>
              <a:t> Every question leads her away from the product page.</a:t>
            </a:r>
            <a:endParaRPr sz="900">
              <a:latin typeface="Roboto"/>
              <a:ea typeface="Roboto"/>
              <a:cs typeface="Roboto"/>
              <a:sym typeface="Roboto"/>
            </a:endParaRPr>
          </a:p>
        </p:txBody>
      </p:sp>
      <p:sp>
        <p:nvSpPr>
          <p:cNvPr id="87" name="Google Shape;87;p14"/>
          <p:cNvSpPr/>
          <p:nvPr/>
        </p:nvSpPr>
        <p:spPr>
          <a:xfrm>
            <a:off x="5745625" y="2820975"/>
            <a:ext cx="1851000" cy="600300"/>
          </a:xfrm>
          <a:prstGeom prst="wedgeEllipseCallout">
            <a:avLst>
              <a:gd fmla="val -12009" name="adj1"/>
              <a:gd fmla="val 713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Roboto"/>
                <a:ea typeface="Roboto"/>
                <a:cs typeface="Roboto"/>
                <a:sym typeface="Roboto"/>
              </a:rPr>
              <a:t>After 90 minutes, she’s exhausted and still undecided.</a:t>
            </a:r>
            <a:endParaRPr sz="800">
              <a:latin typeface="Roboto"/>
              <a:ea typeface="Roboto"/>
              <a:cs typeface="Roboto"/>
              <a:sym typeface="Roboto"/>
            </a:endParaRPr>
          </a:p>
        </p:txBody>
      </p:sp>
      <p:sp>
        <p:nvSpPr>
          <p:cNvPr id="88" name="Google Shape;88;p14"/>
          <p:cNvSpPr/>
          <p:nvPr/>
        </p:nvSpPr>
        <p:spPr>
          <a:xfrm>
            <a:off x="7540300" y="2426500"/>
            <a:ext cx="1455600" cy="11691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She wishes buying one outfit wasn’t such a chore.</a:t>
            </a:r>
            <a:endParaRPr sz="9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2" name="Shape 92"/>
        <p:cNvGrpSpPr/>
        <p:nvPr/>
      </p:nvGrpSpPr>
      <p:grpSpPr>
        <a:xfrm>
          <a:off x="0" y="0"/>
          <a:ext cx="0" cy="0"/>
          <a:chOff x="0" y="0"/>
          <a:chExt cx="0" cy="0"/>
        </a:xfrm>
      </p:grpSpPr>
      <p:sp>
        <p:nvSpPr>
          <p:cNvPr id="93" name="Google Shape;93;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4" name="Google Shape;94;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5" name="Google Shape;95;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96" name="Google Shape;96;p15" title="Gemini_Generated_Image_r6dwemr6dwemr6dw.png"/>
          <p:cNvPicPr preferRelativeResize="0"/>
          <p:nvPr/>
        </p:nvPicPr>
        <p:blipFill rotWithShape="1">
          <a:blip r:embed="rId3">
            <a:alphaModFix/>
          </a:blip>
          <a:srcRect b="0" l="0" r="0" t="0"/>
          <a:stretch/>
        </p:blipFill>
        <p:spPr>
          <a:xfrm>
            <a:off x="788025" y="1669751"/>
            <a:ext cx="2852250" cy="2996726"/>
          </a:xfrm>
          <a:prstGeom prst="rect">
            <a:avLst/>
          </a:prstGeom>
          <a:noFill/>
          <a:ln>
            <a:noFill/>
          </a:ln>
        </p:spPr>
      </p:pic>
      <p:sp>
        <p:nvSpPr>
          <p:cNvPr id="97" name="Google Shape;97;p15"/>
          <p:cNvSpPr/>
          <p:nvPr/>
        </p:nvSpPr>
        <p:spPr>
          <a:xfrm>
            <a:off x="1225025" y="129750"/>
            <a:ext cx="3857700" cy="2442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latin typeface="Roboto"/>
              <a:ea typeface="Roboto"/>
              <a:cs typeface="Roboto"/>
              <a:sym typeface="Roboto"/>
            </a:endParaRPr>
          </a:p>
        </p:txBody>
      </p:sp>
      <p:pic>
        <p:nvPicPr>
          <p:cNvPr id="98" name="Google Shape;98;p15"/>
          <p:cNvPicPr preferRelativeResize="0"/>
          <p:nvPr/>
        </p:nvPicPr>
        <p:blipFill rotWithShape="1">
          <a:blip r:embed="rId4">
            <a:alphaModFix/>
          </a:blip>
          <a:srcRect b="78665" l="0" r="50295" t="0"/>
          <a:stretch/>
        </p:blipFill>
        <p:spPr>
          <a:xfrm>
            <a:off x="4785101" y="432850"/>
            <a:ext cx="2255650" cy="932950"/>
          </a:xfrm>
          <a:prstGeom prst="rect">
            <a:avLst/>
          </a:prstGeom>
          <a:noFill/>
          <a:ln>
            <a:noFill/>
          </a:ln>
        </p:spPr>
      </p:pic>
      <p:sp>
        <p:nvSpPr>
          <p:cNvPr id="99" name="Google Shape;99;p15"/>
          <p:cNvSpPr txBox="1"/>
          <p:nvPr/>
        </p:nvSpPr>
        <p:spPr>
          <a:xfrm>
            <a:off x="1707575" y="400200"/>
            <a:ext cx="2906700" cy="193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Roboto"/>
                <a:ea typeface="Roboto"/>
                <a:cs typeface="Roboto"/>
                <a:sym typeface="Roboto"/>
              </a:rPr>
              <a:t>Maya couldn’t help thinking—why isn’t shopping simple? Say goodbye to endless filters and guessing the perfect keywords. There should be a way to describe what you want just like you’d tell a friend and get a clear, reliable answer with accurate shopping data. Imagine asking a question and instantly getting an organized response with rich visuals and the details that matter—price, reviews, inventory—so you can decide what to buy quickly and confidently.</a:t>
            </a:r>
            <a:endParaRPr sz="900">
              <a:solidFill>
                <a:schemeClr val="dk1"/>
              </a:solidFill>
              <a:latin typeface="Roboto"/>
              <a:ea typeface="Roboto"/>
              <a:cs typeface="Roboto"/>
              <a:sym typeface="Roboto"/>
            </a:endParaRPr>
          </a:p>
          <a:p>
            <a:pPr indent="0" lvl="0" marL="0" rtl="0" algn="l">
              <a:spcBef>
                <a:spcPts val="1200"/>
              </a:spcBef>
              <a:spcAft>
                <a:spcPts val="0"/>
              </a:spcAft>
              <a:buNone/>
            </a:pPr>
            <a:r>
              <a:t/>
            </a:r>
            <a:endParaRPr sz="900">
              <a:solidFill>
                <a:schemeClr val="dk1"/>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Why</a:t>
            </a:r>
            <a:r>
              <a:rPr lang="en">
                <a:latin typeface="Times New Roman"/>
                <a:ea typeface="Times New Roman"/>
                <a:cs typeface="Times New Roman"/>
                <a:sym typeface="Times New Roman"/>
              </a:rPr>
              <a:t> a </a:t>
            </a:r>
            <a:r>
              <a:rPr b="1" lang="en">
                <a:solidFill>
                  <a:srgbClr val="A347F2"/>
                </a:solidFill>
                <a:latin typeface="Times New Roman"/>
                <a:ea typeface="Times New Roman"/>
                <a:cs typeface="Times New Roman"/>
                <a:sym typeface="Times New Roman"/>
              </a:rPr>
              <a:t>Fashion Chatbot?</a:t>
            </a:r>
            <a:endParaRPr b="1">
              <a:solidFill>
                <a:srgbClr val="A347F2"/>
              </a:solidFill>
              <a:latin typeface="Times New Roman"/>
              <a:ea typeface="Times New Roman"/>
              <a:cs typeface="Times New Roman"/>
              <a:sym typeface="Times New Roman"/>
            </a:endParaRPr>
          </a:p>
        </p:txBody>
      </p:sp>
      <p:sp>
        <p:nvSpPr>
          <p:cNvPr id="105" name="Google Shape;105;p16"/>
          <p:cNvSpPr txBox="1"/>
          <p:nvPr>
            <p:ph idx="1" type="body"/>
          </p:nvPr>
        </p:nvSpPr>
        <p:spPr>
          <a:xfrm>
            <a:off x="311700" y="106103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sz="1400">
                <a:solidFill>
                  <a:schemeClr val="dk1"/>
                </a:solidFill>
                <a:highlight>
                  <a:srgbClr val="FFFFFF"/>
                </a:highlight>
                <a:latin typeface="Times New Roman"/>
                <a:ea typeface="Times New Roman"/>
                <a:cs typeface="Times New Roman"/>
                <a:sym typeface="Times New Roman"/>
              </a:rPr>
              <a:t>An </a:t>
            </a:r>
            <a:r>
              <a:rPr b="1" lang="en" sz="1400">
                <a:solidFill>
                  <a:schemeClr val="dk1"/>
                </a:solidFill>
                <a:highlight>
                  <a:srgbClr val="FFFFFF"/>
                </a:highlight>
                <a:latin typeface="Times New Roman"/>
                <a:ea typeface="Times New Roman"/>
                <a:cs typeface="Times New Roman"/>
                <a:sym typeface="Times New Roman"/>
              </a:rPr>
              <a:t>unified internal product</a:t>
            </a:r>
            <a:r>
              <a:rPr lang="en" sz="1400">
                <a:solidFill>
                  <a:schemeClr val="dk1"/>
                </a:solidFill>
                <a:highlight>
                  <a:srgbClr val="FFFFFF"/>
                </a:highlight>
                <a:latin typeface="Times New Roman"/>
                <a:ea typeface="Times New Roman"/>
                <a:cs typeface="Times New Roman"/>
                <a:sym typeface="Times New Roman"/>
              </a:rPr>
              <a:t> catalog ensures all recommendations are in stock and on-brand.</a:t>
            </a:r>
            <a:endParaRPr sz="14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b="1" lang="en" sz="1400">
                <a:solidFill>
                  <a:schemeClr val="dk1"/>
                </a:solidFill>
                <a:highlight>
                  <a:srgbClr val="FFFFFF"/>
                </a:highlight>
                <a:latin typeface="Times New Roman"/>
                <a:ea typeface="Times New Roman"/>
                <a:cs typeface="Times New Roman"/>
                <a:sym typeface="Times New Roman"/>
              </a:rPr>
              <a:t>Query-based filtering </a:t>
            </a:r>
            <a:r>
              <a:rPr lang="en" sz="1400">
                <a:solidFill>
                  <a:schemeClr val="dk1"/>
                </a:solidFill>
                <a:highlight>
                  <a:srgbClr val="FFFFFF"/>
                </a:highlight>
                <a:latin typeface="Times New Roman"/>
                <a:ea typeface="Times New Roman"/>
                <a:cs typeface="Times New Roman"/>
                <a:sym typeface="Times New Roman"/>
              </a:rPr>
              <a:t>keeps the AI strictly aligned with the customer’s exact request.</a:t>
            </a:r>
            <a:endParaRPr sz="14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b="1" lang="en" sz="1400">
                <a:solidFill>
                  <a:schemeClr val="dk1"/>
                </a:solidFill>
                <a:highlight>
                  <a:srgbClr val="FFFFFF"/>
                </a:highlight>
                <a:latin typeface="Times New Roman"/>
                <a:ea typeface="Times New Roman"/>
                <a:cs typeface="Times New Roman"/>
                <a:sym typeface="Times New Roman"/>
              </a:rPr>
              <a:t>Context-aware fashion </a:t>
            </a:r>
            <a:r>
              <a:rPr lang="en" sz="1400">
                <a:solidFill>
                  <a:schemeClr val="dk1"/>
                </a:solidFill>
                <a:highlight>
                  <a:srgbClr val="FFFFFF"/>
                </a:highlight>
                <a:latin typeface="Times New Roman"/>
                <a:ea typeface="Times New Roman"/>
                <a:cs typeface="Times New Roman"/>
                <a:sym typeface="Times New Roman"/>
              </a:rPr>
              <a:t>rules provide relevant outfit suggestions.</a:t>
            </a:r>
            <a:endParaRPr sz="14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b="1" lang="en" sz="1400">
                <a:solidFill>
                  <a:schemeClr val="dk1"/>
                </a:solidFill>
                <a:highlight>
                  <a:srgbClr val="FFFFFF"/>
                </a:highlight>
                <a:latin typeface="Times New Roman"/>
                <a:ea typeface="Times New Roman"/>
                <a:cs typeface="Times New Roman"/>
                <a:sym typeface="Times New Roman"/>
              </a:rPr>
              <a:t>Vector-based</a:t>
            </a:r>
            <a:r>
              <a:rPr lang="en" sz="1400">
                <a:solidFill>
                  <a:schemeClr val="dk1"/>
                </a:solidFill>
                <a:highlight>
                  <a:srgbClr val="FFFFFF"/>
                </a:highlight>
                <a:latin typeface="Times New Roman"/>
                <a:ea typeface="Times New Roman"/>
                <a:cs typeface="Times New Roman"/>
                <a:sym typeface="Times New Roman"/>
              </a:rPr>
              <a:t> Product catalog search.</a:t>
            </a:r>
            <a:endParaRPr sz="1400">
              <a:solidFill>
                <a:schemeClr val="dk1"/>
              </a:solidFill>
              <a:highlight>
                <a:srgbClr val="FFFFFF"/>
              </a:highlight>
              <a:latin typeface="Times New Roman"/>
              <a:ea typeface="Times New Roman"/>
              <a:cs typeface="Times New Roman"/>
              <a:sym typeface="Times New Roman"/>
            </a:endParaRPr>
          </a:p>
          <a:p>
            <a:pPr indent="0" lvl="0" marL="457200" rtl="0" algn="l">
              <a:spcBef>
                <a:spcPts val="1200"/>
              </a:spcBef>
              <a:spcAft>
                <a:spcPts val="1200"/>
              </a:spcAft>
              <a:buNone/>
            </a:pPr>
            <a:r>
              <a:t/>
            </a:r>
            <a:endParaRPr sz="1200">
              <a:solidFill>
                <a:srgbClr val="0A0A0A"/>
              </a:solidFill>
              <a:highlight>
                <a:srgbClr val="FFFFFF"/>
              </a:highlight>
              <a:latin typeface="Roboto"/>
              <a:ea typeface="Roboto"/>
              <a:cs typeface="Roboto"/>
              <a:sym typeface="Roboto"/>
            </a:endParaRPr>
          </a:p>
        </p:txBody>
      </p:sp>
      <p:pic>
        <p:nvPicPr>
          <p:cNvPr id="106" name="Google Shape;106;p16"/>
          <p:cNvPicPr preferRelativeResize="0"/>
          <p:nvPr/>
        </p:nvPicPr>
        <p:blipFill rotWithShape="1">
          <a:blip r:embed="rId3">
            <a:alphaModFix/>
          </a:blip>
          <a:srcRect b="21307" l="17847" r="28377" t="10660"/>
          <a:stretch/>
        </p:blipFill>
        <p:spPr>
          <a:xfrm>
            <a:off x="7193425" y="2916575"/>
            <a:ext cx="1372050" cy="1749500"/>
          </a:xfrm>
          <a:prstGeom prst="rect">
            <a:avLst/>
          </a:prstGeom>
          <a:noFill/>
          <a:ln>
            <a:noFill/>
          </a:ln>
        </p:spPr>
      </p:pic>
      <p:pic>
        <p:nvPicPr>
          <p:cNvPr id="107" name="Google Shape;107;p16"/>
          <p:cNvPicPr preferRelativeResize="0"/>
          <p:nvPr/>
        </p:nvPicPr>
        <p:blipFill rotWithShape="1">
          <a:blip r:embed="rId4">
            <a:alphaModFix/>
          </a:blip>
          <a:srcRect b="13989" l="30492" r="17348" t="8460"/>
          <a:stretch/>
        </p:blipFill>
        <p:spPr>
          <a:xfrm>
            <a:off x="535675" y="3248425"/>
            <a:ext cx="1766550" cy="1749500"/>
          </a:xfrm>
          <a:prstGeom prst="rect">
            <a:avLst/>
          </a:prstGeom>
          <a:noFill/>
          <a:ln>
            <a:noFill/>
          </a:ln>
        </p:spPr>
      </p:pic>
      <p:sp>
        <p:nvSpPr>
          <p:cNvPr id="108" name="Google Shape;108;p16"/>
          <p:cNvSpPr/>
          <p:nvPr/>
        </p:nvSpPr>
        <p:spPr>
          <a:xfrm>
            <a:off x="2302225" y="2762475"/>
            <a:ext cx="2053200" cy="1010700"/>
          </a:xfrm>
          <a:prstGeom prst="wedgeEllipseCallout">
            <a:avLst>
              <a:gd fmla="val -70714" name="adj1"/>
              <a:gd fmla="val 30778" name="adj2"/>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External Links</a:t>
            </a:r>
            <a:endParaRPr sz="7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Forgot my context</a:t>
            </a:r>
            <a:endParaRPr sz="7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Irrelevant matches</a:t>
            </a:r>
            <a:endParaRPr sz="7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t/>
            </a:r>
            <a:endParaRPr sz="750">
              <a:solidFill>
                <a:srgbClr val="0A0A0A"/>
              </a:solidFill>
              <a:highlight>
                <a:srgbClr val="F0F2F5"/>
              </a:highlight>
              <a:latin typeface="Roboto Mono"/>
              <a:ea typeface="Roboto Mono"/>
              <a:cs typeface="Roboto Mono"/>
              <a:sym typeface="Roboto Mono"/>
            </a:endParaRPr>
          </a:p>
          <a:p>
            <a:pPr indent="0" lvl="0" marL="457200" rtl="0" algn="l">
              <a:spcBef>
                <a:spcPts val="0"/>
              </a:spcBef>
              <a:spcAft>
                <a:spcPts val="0"/>
              </a:spcAft>
              <a:buNone/>
            </a:pPr>
            <a:r>
              <a:t/>
            </a:r>
            <a:endParaRPr sz="7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t/>
            </a:r>
            <a:endParaRPr sz="750">
              <a:solidFill>
                <a:srgbClr val="0A0A0A"/>
              </a:solidFill>
              <a:highlight>
                <a:srgbClr val="F0F2F5"/>
              </a:highlight>
              <a:latin typeface="Roboto Mono"/>
              <a:ea typeface="Roboto Mono"/>
              <a:cs typeface="Roboto Mono"/>
              <a:sym typeface="Roboto Mono"/>
            </a:endParaRPr>
          </a:p>
        </p:txBody>
      </p:sp>
      <p:sp>
        <p:nvSpPr>
          <p:cNvPr id="109" name="Google Shape;109;p16"/>
          <p:cNvSpPr/>
          <p:nvPr/>
        </p:nvSpPr>
        <p:spPr>
          <a:xfrm flipH="1">
            <a:off x="4826150" y="2916575"/>
            <a:ext cx="2053200" cy="1010700"/>
          </a:xfrm>
          <a:prstGeom prst="wedgeEllipseCallout">
            <a:avLst>
              <a:gd fmla="val -70714" name="adj1"/>
              <a:gd fmla="val 30778" name="adj2"/>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Internal Catalog</a:t>
            </a:r>
            <a:endParaRPr sz="7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Contextual Memory</a:t>
            </a:r>
            <a:r>
              <a:rPr lang="en" sz="900">
                <a:solidFill>
                  <a:srgbClr val="0A0A0A"/>
                </a:solidFill>
                <a:highlight>
                  <a:srgbClr val="FFFFFF"/>
                </a:highlight>
                <a:latin typeface="Roboto"/>
                <a:ea typeface="Roboto"/>
                <a:cs typeface="Roboto"/>
                <a:sym typeface="Roboto"/>
              </a:rPr>
              <a:t> </a:t>
            </a:r>
            <a:endParaRPr sz="900">
              <a:solidFill>
                <a:srgbClr val="0A0A0A"/>
              </a:solidFill>
              <a:highlight>
                <a:srgbClr val="FFFFFF"/>
              </a:highlight>
              <a:latin typeface="Roboto"/>
              <a:ea typeface="Roboto"/>
              <a:cs typeface="Roboto"/>
              <a:sym typeface="Roboto"/>
            </a:endParaRPr>
          </a:p>
          <a:p>
            <a:pPr indent="0" lvl="0" marL="0" rtl="0" algn="l">
              <a:spcBef>
                <a:spcPts val="0"/>
              </a:spcBef>
              <a:spcAft>
                <a:spcPts val="0"/>
              </a:spcAft>
              <a:buNone/>
            </a:pPr>
            <a:r>
              <a:rPr lang="en" sz="750">
                <a:solidFill>
                  <a:srgbClr val="0A0A0A"/>
                </a:solidFill>
                <a:highlight>
                  <a:srgbClr val="F0F2F5"/>
                </a:highlight>
                <a:latin typeface="Roboto Mono"/>
                <a:ea typeface="Roboto Mono"/>
                <a:cs typeface="Roboto Mono"/>
                <a:sym typeface="Roboto Mono"/>
              </a:rPr>
              <a:t>Smart Pairing</a:t>
            </a:r>
            <a:endParaRPr sz="1200">
              <a:solidFill>
                <a:schemeClr val="dk2"/>
              </a:solidFill>
            </a:endParaRPr>
          </a:p>
          <a:p>
            <a:pPr indent="0" lvl="0" marL="457200" rtl="0" algn="l">
              <a:spcBef>
                <a:spcPts val="0"/>
              </a:spcBef>
              <a:spcAft>
                <a:spcPts val="0"/>
              </a:spcAft>
              <a:buNone/>
            </a:pPr>
            <a:r>
              <a:t/>
            </a:r>
            <a:endParaRPr sz="450">
              <a:solidFill>
                <a:srgbClr val="0A0A0A"/>
              </a:solidFill>
              <a:highlight>
                <a:srgbClr val="F0F2F5"/>
              </a:highlight>
              <a:latin typeface="Roboto Mono"/>
              <a:ea typeface="Roboto Mono"/>
              <a:cs typeface="Roboto Mono"/>
              <a:sym typeface="Roboto Mono"/>
            </a:endParaRPr>
          </a:p>
          <a:p>
            <a:pPr indent="0" lvl="0" marL="0" rtl="0" algn="l">
              <a:spcBef>
                <a:spcPts val="0"/>
              </a:spcBef>
              <a:spcAft>
                <a:spcPts val="0"/>
              </a:spcAft>
              <a:buNone/>
            </a:pPr>
            <a:r>
              <a:t/>
            </a:r>
            <a:endParaRPr sz="450">
              <a:solidFill>
                <a:srgbClr val="0A0A0A"/>
              </a:solidFill>
              <a:highlight>
                <a:srgbClr val="F0F2F5"/>
              </a:highlight>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A347F2"/>
                </a:solidFill>
                <a:latin typeface="Times New Roman"/>
                <a:ea typeface="Times New Roman"/>
                <a:cs typeface="Times New Roman"/>
                <a:sym typeface="Times New Roman"/>
              </a:rPr>
              <a:t>Problem</a:t>
            </a:r>
            <a:r>
              <a:rPr lang="en">
                <a:latin typeface="Times New Roman"/>
                <a:ea typeface="Times New Roman"/>
                <a:cs typeface="Times New Roman"/>
                <a:sym typeface="Times New Roman"/>
              </a:rPr>
              <a:t> Statement</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5" name="Google Shape;11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solidFill>
                  <a:schemeClr val="dk1"/>
                </a:solidFill>
                <a:latin typeface="Times New Roman"/>
                <a:ea typeface="Times New Roman"/>
                <a:cs typeface="Times New Roman"/>
                <a:sym typeface="Times New Roman"/>
              </a:rPr>
              <a:t>To build a </a:t>
            </a:r>
            <a:r>
              <a:rPr b="1" lang="en">
                <a:solidFill>
                  <a:schemeClr val="dk1"/>
                </a:solidFill>
                <a:latin typeface="Times New Roman"/>
                <a:ea typeface="Times New Roman"/>
                <a:cs typeface="Times New Roman"/>
                <a:sym typeface="Times New Roman"/>
              </a:rPr>
              <a:t>Clothing Assistan</a:t>
            </a:r>
            <a:r>
              <a:rPr lang="en">
                <a:solidFill>
                  <a:schemeClr val="dk1"/>
                </a:solidFill>
                <a:latin typeface="Times New Roman"/>
                <a:ea typeface="Times New Roman"/>
                <a:cs typeface="Times New Roman"/>
                <a:sym typeface="Times New Roman"/>
              </a:rPr>
              <a:t>t. A chatbot designed to answer questions from store policy, previous purchases of customers, and suggest outfits based on query given and customer’s previous purchases. </a:t>
            </a:r>
            <a:endParaRPr>
              <a:solidFill>
                <a:schemeClr val="dk1"/>
              </a:solidFill>
              <a:latin typeface="Times New Roman"/>
              <a:ea typeface="Times New Roman"/>
              <a:cs typeface="Times New Roman"/>
              <a:sym typeface="Times New Roman"/>
            </a:endParaRPr>
          </a:p>
        </p:txBody>
      </p:sp>
      <p:pic>
        <p:nvPicPr>
          <p:cNvPr id="116" name="Google Shape;116;p17"/>
          <p:cNvPicPr preferRelativeResize="0"/>
          <p:nvPr/>
        </p:nvPicPr>
        <p:blipFill rotWithShape="1">
          <a:blip r:embed="rId3">
            <a:alphaModFix/>
          </a:blip>
          <a:srcRect b="78665" l="0" r="0" t="0"/>
          <a:stretch/>
        </p:blipFill>
        <p:spPr>
          <a:xfrm>
            <a:off x="638400" y="2472275"/>
            <a:ext cx="8109075" cy="203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cxnSp>
        <p:nvCxnSpPr>
          <p:cNvPr id="121" name="Google Shape;121;p18"/>
          <p:cNvCxnSpPr>
            <a:stCxn id="122" idx="2"/>
            <a:endCxn id="123" idx="0"/>
          </p:cNvCxnSpPr>
          <p:nvPr/>
        </p:nvCxnSpPr>
        <p:spPr>
          <a:xfrm flipH="1" rot="-5400000">
            <a:off x="5546051" y="17837"/>
            <a:ext cx="861900" cy="2950200"/>
          </a:xfrm>
          <a:prstGeom prst="bentConnector3">
            <a:avLst>
              <a:gd fmla="val 49996" name="adj1"/>
            </a:avLst>
          </a:prstGeom>
          <a:noFill/>
          <a:ln cap="flat" cmpd="sng" w="9525">
            <a:solidFill>
              <a:srgbClr val="561561"/>
            </a:solidFill>
            <a:prstDash val="solid"/>
            <a:round/>
            <a:headEnd len="med" w="med" type="diamond"/>
            <a:tailEnd len="med" w="med" type="diamond"/>
          </a:ln>
        </p:spPr>
      </p:cxnSp>
      <p:cxnSp>
        <p:nvCxnSpPr>
          <p:cNvPr id="124" name="Google Shape;124;p18"/>
          <p:cNvCxnSpPr>
            <a:stCxn id="125" idx="0"/>
            <a:endCxn id="122" idx="2"/>
          </p:cNvCxnSpPr>
          <p:nvPr/>
        </p:nvCxnSpPr>
        <p:spPr>
          <a:xfrm rot="-5400000">
            <a:off x="3018675" y="440475"/>
            <a:ext cx="861900" cy="2104800"/>
          </a:xfrm>
          <a:prstGeom prst="bentConnector3">
            <a:avLst>
              <a:gd fmla="val 49996" name="adj1"/>
            </a:avLst>
          </a:prstGeom>
          <a:noFill/>
          <a:ln cap="flat" cmpd="sng" w="9525">
            <a:solidFill>
              <a:srgbClr val="561561"/>
            </a:solidFill>
            <a:prstDash val="solid"/>
            <a:round/>
            <a:headEnd len="med" w="med" type="diamond"/>
            <a:tailEnd len="med" w="med" type="diamond"/>
          </a:ln>
        </p:spPr>
      </p:cxnSp>
      <p:sp>
        <p:nvSpPr>
          <p:cNvPr id="122" name="Google Shape;122;p18"/>
          <p:cNvSpPr txBox="1"/>
          <p:nvPr/>
        </p:nvSpPr>
        <p:spPr>
          <a:xfrm>
            <a:off x="3347951" y="185087"/>
            <a:ext cx="2307900" cy="876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b="1" lang="en" sz="1700">
                <a:solidFill>
                  <a:srgbClr val="A347F2"/>
                </a:solidFill>
                <a:latin typeface="Times New Roman"/>
                <a:ea typeface="Times New Roman"/>
                <a:cs typeface="Times New Roman"/>
                <a:sym typeface="Times New Roman"/>
              </a:rPr>
              <a:t>Fashion Chatbot</a:t>
            </a:r>
            <a:endParaRPr b="1" sz="1700">
              <a:solidFill>
                <a:srgbClr val="A347F2"/>
              </a:solidFill>
              <a:latin typeface="Times New Roman"/>
              <a:ea typeface="Times New Roman"/>
              <a:cs typeface="Times New Roman"/>
              <a:sym typeface="Times New Roman"/>
            </a:endParaRPr>
          </a:p>
        </p:txBody>
      </p:sp>
      <p:sp>
        <p:nvSpPr>
          <p:cNvPr id="125" name="Google Shape;125;p18"/>
          <p:cNvSpPr txBox="1"/>
          <p:nvPr/>
        </p:nvSpPr>
        <p:spPr>
          <a:xfrm>
            <a:off x="711225" y="1923825"/>
            <a:ext cx="3372000" cy="876900"/>
          </a:xfrm>
          <a:prstGeom prst="rect">
            <a:avLst/>
          </a:prstGeom>
          <a:noFill/>
          <a:ln>
            <a:noFill/>
          </a:ln>
        </p:spPr>
        <p:txBody>
          <a:bodyPr anchorCtr="0" anchor="ctr" bIns="137175" lIns="137175" spcFirstLastPara="1" rIns="137175" wrap="square" tIns="137175">
            <a:noAutofit/>
          </a:bodyPr>
          <a:lstStyle/>
          <a:p>
            <a:pPr indent="0" lvl="0" marL="0" rtl="0" algn="l">
              <a:spcBef>
                <a:spcPts val="0"/>
              </a:spcBef>
              <a:spcAft>
                <a:spcPts val="0"/>
              </a:spcAft>
              <a:buNone/>
            </a:pPr>
            <a:r>
              <a:rPr b="1" lang="en" sz="1600">
                <a:solidFill>
                  <a:srgbClr val="701C7F"/>
                </a:solidFill>
                <a:latin typeface="Times New Roman"/>
                <a:ea typeface="Times New Roman"/>
                <a:cs typeface="Times New Roman"/>
                <a:sym typeface="Times New Roman"/>
              </a:rPr>
              <a:t>Store policy + Customer help desk </a:t>
            </a:r>
            <a:endParaRPr b="1" sz="1600">
              <a:solidFill>
                <a:srgbClr val="701C7F"/>
              </a:solidFill>
              <a:latin typeface="Times New Roman"/>
              <a:ea typeface="Times New Roman"/>
              <a:cs typeface="Times New Roman"/>
              <a:sym typeface="Times New Roman"/>
            </a:endParaRPr>
          </a:p>
        </p:txBody>
      </p:sp>
      <p:sp>
        <p:nvSpPr>
          <p:cNvPr id="123" name="Google Shape;123;p18"/>
          <p:cNvSpPr txBox="1"/>
          <p:nvPr/>
        </p:nvSpPr>
        <p:spPr>
          <a:xfrm>
            <a:off x="6004127" y="1923823"/>
            <a:ext cx="2896200" cy="876900"/>
          </a:xfrm>
          <a:prstGeom prst="rect">
            <a:avLst/>
          </a:prstGeom>
          <a:noFill/>
          <a:ln>
            <a:noFill/>
          </a:ln>
        </p:spPr>
        <p:txBody>
          <a:bodyPr anchorCtr="0" anchor="ctr" bIns="137175" lIns="137175" spcFirstLastPara="1" rIns="137175" wrap="square" tIns="137175">
            <a:noAutofit/>
          </a:bodyPr>
          <a:lstStyle/>
          <a:p>
            <a:pPr indent="685985" lvl="0" marL="0" rtl="0" algn="l">
              <a:spcBef>
                <a:spcPts val="0"/>
              </a:spcBef>
              <a:spcAft>
                <a:spcPts val="0"/>
              </a:spcAft>
              <a:buNone/>
            </a:pPr>
            <a:r>
              <a:rPr b="1" lang="en" sz="1600">
                <a:solidFill>
                  <a:srgbClr val="701C7F"/>
                </a:solidFill>
                <a:latin typeface="Times New Roman"/>
                <a:ea typeface="Times New Roman"/>
                <a:cs typeface="Times New Roman"/>
                <a:sym typeface="Times New Roman"/>
              </a:rPr>
              <a:t>       AI stylist</a:t>
            </a:r>
            <a:endParaRPr b="1" sz="1600">
              <a:solidFill>
                <a:srgbClr val="701C7F"/>
              </a:solidFill>
              <a:latin typeface="Times New Roman"/>
              <a:ea typeface="Times New Roman"/>
              <a:cs typeface="Times New Roman"/>
              <a:sym typeface="Times New Roman"/>
            </a:endParaRPr>
          </a:p>
        </p:txBody>
      </p:sp>
      <p:sp>
        <p:nvSpPr>
          <p:cNvPr id="126" name="Google Shape;126;p18"/>
          <p:cNvSpPr txBox="1"/>
          <p:nvPr/>
        </p:nvSpPr>
        <p:spPr>
          <a:xfrm>
            <a:off x="409300" y="2692275"/>
            <a:ext cx="4237800" cy="1302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What is the return policy?</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Can I get discount voucher if i return old clothes?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What are the payment policies </a:t>
            </a:r>
            <a:r>
              <a:rPr lang="en">
                <a:solidFill>
                  <a:schemeClr val="dk1"/>
                </a:solidFill>
                <a:latin typeface="Times New Roman"/>
                <a:ea typeface="Times New Roman"/>
                <a:cs typeface="Times New Roman"/>
                <a:sym typeface="Times New Roman"/>
              </a:rPr>
              <a:t>available</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What is the refund conditions?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How is the shipping done?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p:txBody>
      </p:sp>
      <p:sp>
        <p:nvSpPr>
          <p:cNvPr id="127" name="Google Shape;127;p18"/>
          <p:cNvSpPr txBox="1"/>
          <p:nvPr/>
        </p:nvSpPr>
        <p:spPr>
          <a:xfrm>
            <a:off x="5584575" y="2692275"/>
            <a:ext cx="3735300" cy="1302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What about a red one?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a:t>
            </a:r>
            <a:r>
              <a:rPr lang="en">
                <a:solidFill>
                  <a:schemeClr val="dk1"/>
                </a:solidFill>
                <a:latin typeface="Times New Roman"/>
                <a:ea typeface="Times New Roman"/>
                <a:cs typeface="Times New Roman"/>
                <a:sym typeface="Times New Roman"/>
              </a:rPr>
              <a:t>elp me find a blue shirt for my office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a:t>
            </a:r>
            <a:r>
              <a:rPr lang="en">
                <a:solidFill>
                  <a:schemeClr val="dk1"/>
                </a:solidFill>
                <a:latin typeface="Times New Roman"/>
                <a:ea typeface="Times New Roman"/>
                <a:cs typeface="Times New Roman"/>
                <a:sym typeface="Times New Roman"/>
              </a:rPr>
              <a:t>hirt that goes with cream pant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T</a:t>
            </a:r>
            <a:r>
              <a:rPr lang="en">
                <a:solidFill>
                  <a:schemeClr val="dk1"/>
                </a:solidFill>
                <a:latin typeface="Times New Roman"/>
                <a:ea typeface="Times New Roman"/>
                <a:cs typeface="Times New Roman"/>
                <a:sym typeface="Times New Roman"/>
              </a:rPr>
              <a:t>rendy tops in pastel colors for brunch</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Dress for winter</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9"/>
          <p:cNvPicPr preferRelativeResize="0"/>
          <p:nvPr/>
        </p:nvPicPr>
        <p:blipFill rotWithShape="1">
          <a:blip r:embed="rId3">
            <a:alphaModFix/>
          </a:blip>
          <a:srcRect b="0" l="0" r="0" t="24539"/>
          <a:stretch/>
        </p:blipFill>
        <p:spPr>
          <a:xfrm>
            <a:off x="1556100" y="2042050"/>
            <a:ext cx="3163675" cy="1059400"/>
          </a:xfrm>
          <a:prstGeom prst="rect">
            <a:avLst/>
          </a:prstGeom>
          <a:noFill/>
          <a:ln>
            <a:noFill/>
          </a:ln>
        </p:spPr>
      </p:pic>
      <p:pic>
        <p:nvPicPr>
          <p:cNvPr id="133" name="Google Shape;133;p19"/>
          <p:cNvPicPr preferRelativeResize="0"/>
          <p:nvPr/>
        </p:nvPicPr>
        <p:blipFill rotWithShape="1">
          <a:blip r:embed="rId4">
            <a:alphaModFix/>
          </a:blip>
          <a:srcRect b="37609" l="0" r="27039" t="0"/>
          <a:stretch/>
        </p:blipFill>
        <p:spPr>
          <a:xfrm>
            <a:off x="3888675" y="299625"/>
            <a:ext cx="2125950" cy="1059400"/>
          </a:xfrm>
          <a:prstGeom prst="rect">
            <a:avLst/>
          </a:prstGeom>
          <a:noFill/>
          <a:ln>
            <a:noFill/>
          </a:ln>
        </p:spPr>
      </p:pic>
      <p:grpSp>
        <p:nvGrpSpPr>
          <p:cNvPr id="134" name="Google Shape;134;p19"/>
          <p:cNvGrpSpPr/>
          <p:nvPr/>
        </p:nvGrpSpPr>
        <p:grpSpPr>
          <a:xfrm>
            <a:off x="4513721" y="1359016"/>
            <a:ext cx="2281031" cy="786659"/>
            <a:chOff x="4526671" y="2800065"/>
            <a:chExt cx="2281031" cy="786659"/>
          </a:xfrm>
        </p:grpSpPr>
        <p:sp>
          <p:nvSpPr>
            <p:cNvPr id="135" name="Google Shape;135;p19"/>
            <p:cNvSpPr/>
            <p:nvPr/>
          </p:nvSpPr>
          <p:spPr>
            <a:xfrm>
              <a:off x="4849302" y="3079475"/>
              <a:ext cx="1958400" cy="133500"/>
            </a:xfrm>
            <a:prstGeom prst="rect">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19"/>
            <p:cNvGrpSpPr/>
            <p:nvPr/>
          </p:nvGrpSpPr>
          <p:grpSpPr>
            <a:xfrm>
              <a:off x="4526671" y="2800065"/>
              <a:ext cx="1425900" cy="786659"/>
              <a:chOff x="4526671" y="2800065"/>
              <a:chExt cx="1425900" cy="786659"/>
            </a:xfrm>
          </p:grpSpPr>
          <p:grpSp>
            <p:nvGrpSpPr>
              <p:cNvPr id="137" name="Google Shape;137;p19"/>
              <p:cNvGrpSpPr/>
              <p:nvPr/>
            </p:nvGrpSpPr>
            <p:grpSpPr>
              <a:xfrm>
                <a:off x="4808316" y="2800065"/>
                <a:ext cx="92400" cy="411825"/>
                <a:chOff x="845575" y="2563700"/>
                <a:chExt cx="92400" cy="411825"/>
              </a:xfrm>
            </p:grpSpPr>
            <p:cxnSp>
              <p:nvCxnSpPr>
                <p:cNvPr id="138" name="Google Shape;138;p19"/>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39" name="Google Shape;139;p19"/>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19"/>
              <p:cNvSpPr txBox="1"/>
              <p:nvPr/>
            </p:nvSpPr>
            <p:spPr>
              <a:xfrm>
                <a:off x="4526671" y="3153823"/>
                <a:ext cx="1425900" cy="43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200">
                    <a:latin typeface="Roboto"/>
                    <a:ea typeface="Roboto"/>
                    <a:cs typeface="Roboto"/>
                    <a:sym typeface="Roboto"/>
                  </a:rPr>
                  <a:t>Previous Purchases</a:t>
                </a:r>
                <a:endParaRPr b="1" sz="1200">
                  <a:latin typeface="Roboto"/>
                  <a:ea typeface="Roboto"/>
                  <a:cs typeface="Roboto"/>
                  <a:sym typeface="Roboto"/>
                </a:endParaRPr>
              </a:p>
            </p:txBody>
          </p:sp>
        </p:grpSp>
      </p:grpSp>
      <p:grpSp>
        <p:nvGrpSpPr>
          <p:cNvPr id="141" name="Google Shape;141;p19"/>
          <p:cNvGrpSpPr/>
          <p:nvPr/>
        </p:nvGrpSpPr>
        <p:grpSpPr>
          <a:xfrm>
            <a:off x="6422624" y="1261525"/>
            <a:ext cx="2518972" cy="788708"/>
            <a:chOff x="6435796" y="2702585"/>
            <a:chExt cx="2721153" cy="788708"/>
          </a:xfrm>
        </p:grpSpPr>
        <p:sp>
          <p:nvSpPr>
            <p:cNvPr id="142" name="Google Shape;142;p19"/>
            <p:cNvSpPr/>
            <p:nvPr/>
          </p:nvSpPr>
          <p:spPr>
            <a:xfrm>
              <a:off x="6807650" y="3079475"/>
              <a:ext cx="2349300" cy="133500"/>
            </a:xfrm>
            <a:prstGeom prst="rect">
              <a:avLst/>
            </a:prstGeom>
            <a:solidFill>
              <a:srgbClr val="5615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 name="Google Shape;143;p19"/>
            <p:cNvGrpSpPr/>
            <p:nvPr/>
          </p:nvGrpSpPr>
          <p:grpSpPr>
            <a:xfrm>
              <a:off x="6435796" y="2702585"/>
              <a:ext cx="847800" cy="788708"/>
              <a:chOff x="6435796" y="2702585"/>
              <a:chExt cx="847800" cy="788708"/>
            </a:xfrm>
          </p:grpSpPr>
          <p:grpSp>
            <p:nvGrpSpPr>
              <p:cNvPr id="144" name="Google Shape;144;p19"/>
              <p:cNvGrpSpPr/>
              <p:nvPr/>
            </p:nvGrpSpPr>
            <p:grpSpPr>
              <a:xfrm rot="10800000">
                <a:off x="6760035" y="3079467"/>
                <a:ext cx="92400" cy="411825"/>
                <a:chOff x="2070100" y="2563700"/>
                <a:chExt cx="92400" cy="411825"/>
              </a:xfrm>
            </p:grpSpPr>
            <p:cxnSp>
              <p:nvCxnSpPr>
                <p:cNvPr id="145" name="Google Shape;145;p19"/>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46" name="Google Shape;146;p19"/>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9"/>
              <p:cNvSpPr txBox="1"/>
              <p:nvPr/>
            </p:nvSpPr>
            <p:spPr>
              <a:xfrm>
                <a:off x="6435796" y="2702585"/>
                <a:ext cx="847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latin typeface="Roboto"/>
                    <a:ea typeface="Roboto"/>
                    <a:cs typeface="Roboto"/>
                    <a:sym typeface="Roboto"/>
                  </a:rPr>
                  <a:t>Context</a:t>
                </a:r>
                <a:endParaRPr b="1" sz="1200">
                  <a:latin typeface="Roboto"/>
                  <a:ea typeface="Roboto"/>
                  <a:cs typeface="Roboto"/>
                  <a:sym typeface="Roboto"/>
                </a:endParaRPr>
              </a:p>
            </p:txBody>
          </p:sp>
        </p:grpSp>
      </p:grpSp>
      <p:grpSp>
        <p:nvGrpSpPr>
          <p:cNvPr id="148" name="Google Shape;148;p19"/>
          <p:cNvGrpSpPr/>
          <p:nvPr/>
        </p:nvGrpSpPr>
        <p:grpSpPr>
          <a:xfrm>
            <a:off x="483041" y="1359016"/>
            <a:ext cx="2395009" cy="786599"/>
            <a:chOff x="495991" y="2800065"/>
            <a:chExt cx="2395009" cy="786599"/>
          </a:xfrm>
        </p:grpSpPr>
        <p:sp>
          <p:nvSpPr>
            <p:cNvPr id="149" name="Google Shape;149;p19"/>
            <p:cNvSpPr/>
            <p:nvPr/>
          </p:nvSpPr>
          <p:spPr>
            <a:xfrm>
              <a:off x="932600" y="3079475"/>
              <a:ext cx="1958400" cy="133500"/>
            </a:xfrm>
            <a:prstGeom prst="rect">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19"/>
            <p:cNvGrpSpPr/>
            <p:nvPr/>
          </p:nvGrpSpPr>
          <p:grpSpPr>
            <a:xfrm>
              <a:off x="495991" y="2800065"/>
              <a:ext cx="871200" cy="786599"/>
              <a:chOff x="495991" y="2800065"/>
              <a:chExt cx="871200" cy="786599"/>
            </a:xfrm>
          </p:grpSpPr>
          <p:sp>
            <p:nvSpPr>
              <p:cNvPr id="151" name="Google Shape;151;p19"/>
              <p:cNvSpPr txBox="1"/>
              <p:nvPr/>
            </p:nvSpPr>
            <p:spPr>
              <a:xfrm>
                <a:off x="495991" y="3215263"/>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latin typeface="Roboto"/>
                    <a:ea typeface="Roboto"/>
                    <a:cs typeface="Roboto"/>
                    <a:sym typeface="Roboto"/>
                  </a:rPr>
                  <a:t>User Query</a:t>
                </a:r>
                <a:endParaRPr b="1" sz="1200">
                  <a:latin typeface="Roboto"/>
                  <a:ea typeface="Roboto"/>
                  <a:cs typeface="Roboto"/>
                  <a:sym typeface="Roboto"/>
                </a:endParaRPr>
              </a:p>
            </p:txBody>
          </p:sp>
          <p:grpSp>
            <p:nvGrpSpPr>
              <p:cNvPr id="152" name="Google Shape;152;p19"/>
              <p:cNvGrpSpPr/>
              <p:nvPr/>
            </p:nvGrpSpPr>
            <p:grpSpPr>
              <a:xfrm>
                <a:off x="881025" y="2800065"/>
                <a:ext cx="92400" cy="411825"/>
                <a:chOff x="845575" y="2563700"/>
                <a:chExt cx="92400" cy="411825"/>
              </a:xfrm>
            </p:grpSpPr>
            <p:cxnSp>
              <p:nvCxnSpPr>
                <p:cNvPr id="153" name="Google Shape;153;p19"/>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54" name="Google Shape;154;p19"/>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55" name="Google Shape;155;p19"/>
          <p:cNvGrpSpPr/>
          <p:nvPr/>
        </p:nvGrpSpPr>
        <p:grpSpPr>
          <a:xfrm>
            <a:off x="2512653" y="1261550"/>
            <a:ext cx="2323750" cy="788693"/>
            <a:chOff x="2525603" y="2702599"/>
            <a:chExt cx="2323750" cy="788693"/>
          </a:xfrm>
        </p:grpSpPr>
        <p:sp>
          <p:nvSpPr>
            <p:cNvPr id="156" name="Google Shape;156;p19"/>
            <p:cNvSpPr/>
            <p:nvPr/>
          </p:nvSpPr>
          <p:spPr>
            <a:xfrm>
              <a:off x="2890952" y="3079475"/>
              <a:ext cx="1958400" cy="133500"/>
            </a:xfrm>
            <a:prstGeom prst="rect">
              <a:avLst/>
            </a:prstGeom>
            <a:solidFill>
              <a:srgbClr val="5615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19"/>
            <p:cNvGrpSpPr/>
            <p:nvPr/>
          </p:nvGrpSpPr>
          <p:grpSpPr>
            <a:xfrm>
              <a:off x="2525603" y="2702599"/>
              <a:ext cx="1181700" cy="788693"/>
              <a:chOff x="2525603" y="2702599"/>
              <a:chExt cx="1181700" cy="788693"/>
            </a:xfrm>
          </p:grpSpPr>
          <p:sp>
            <p:nvSpPr>
              <p:cNvPr id="158" name="Google Shape;158;p19"/>
              <p:cNvSpPr txBox="1"/>
              <p:nvPr/>
            </p:nvSpPr>
            <p:spPr>
              <a:xfrm>
                <a:off x="2525603" y="2702599"/>
                <a:ext cx="1181700" cy="359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latin typeface="Roboto"/>
                    <a:ea typeface="Roboto"/>
                    <a:cs typeface="Roboto"/>
                    <a:sym typeface="Roboto"/>
                  </a:rPr>
                  <a:t>Chat History</a:t>
                </a:r>
                <a:endParaRPr b="1" sz="1200">
                  <a:latin typeface="Roboto"/>
                  <a:ea typeface="Roboto"/>
                  <a:cs typeface="Roboto"/>
                  <a:sym typeface="Roboto"/>
                </a:endParaRPr>
              </a:p>
            </p:txBody>
          </p:sp>
          <p:grpSp>
            <p:nvGrpSpPr>
              <p:cNvPr id="159" name="Google Shape;159;p19"/>
              <p:cNvGrpSpPr/>
              <p:nvPr/>
            </p:nvGrpSpPr>
            <p:grpSpPr>
              <a:xfrm rot="10800000">
                <a:off x="2849073" y="3079467"/>
                <a:ext cx="92400" cy="411825"/>
                <a:chOff x="2070100" y="2563700"/>
                <a:chExt cx="92400" cy="411825"/>
              </a:xfrm>
            </p:grpSpPr>
            <p:cxnSp>
              <p:nvCxnSpPr>
                <p:cNvPr id="160" name="Google Shape;160;p19"/>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61" name="Google Shape;161;p19"/>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162" name="Google Shape;162;p19"/>
          <p:cNvPicPr preferRelativeResize="0"/>
          <p:nvPr/>
        </p:nvPicPr>
        <p:blipFill rotWithShape="1">
          <a:blip r:embed="rId5">
            <a:alphaModFix/>
          </a:blip>
          <a:srcRect b="0" l="0" r="0" t="44674"/>
          <a:stretch/>
        </p:blipFill>
        <p:spPr>
          <a:xfrm>
            <a:off x="5621025" y="2052517"/>
            <a:ext cx="3037625" cy="1059400"/>
          </a:xfrm>
          <a:prstGeom prst="rect">
            <a:avLst/>
          </a:prstGeom>
          <a:noFill/>
          <a:ln>
            <a:noFill/>
          </a:ln>
        </p:spPr>
      </p:pic>
      <p:pic>
        <p:nvPicPr>
          <p:cNvPr id="163" name="Google Shape;163;p19"/>
          <p:cNvPicPr preferRelativeResize="0"/>
          <p:nvPr/>
        </p:nvPicPr>
        <p:blipFill rotWithShape="1">
          <a:blip r:embed="rId6">
            <a:alphaModFix/>
          </a:blip>
          <a:srcRect b="0" l="29795" r="0" t="0"/>
          <a:stretch/>
        </p:blipFill>
        <p:spPr>
          <a:xfrm>
            <a:off x="244075" y="1064975"/>
            <a:ext cx="1720325" cy="294050"/>
          </a:xfrm>
          <a:prstGeom prst="rect">
            <a:avLst/>
          </a:prstGeom>
          <a:noFill/>
          <a:ln>
            <a:noFill/>
          </a:ln>
        </p:spPr>
      </p:pic>
      <p:grpSp>
        <p:nvGrpSpPr>
          <p:cNvPr id="164" name="Google Shape;164;p19"/>
          <p:cNvGrpSpPr/>
          <p:nvPr/>
        </p:nvGrpSpPr>
        <p:grpSpPr>
          <a:xfrm>
            <a:off x="6422860" y="3195659"/>
            <a:ext cx="2518980" cy="788688"/>
            <a:chOff x="6435788" y="2702604"/>
            <a:chExt cx="2721162" cy="788688"/>
          </a:xfrm>
        </p:grpSpPr>
        <p:sp>
          <p:nvSpPr>
            <p:cNvPr id="165" name="Google Shape;165;p19"/>
            <p:cNvSpPr/>
            <p:nvPr/>
          </p:nvSpPr>
          <p:spPr>
            <a:xfrm>
              <a:off x="6807650" y="3079475"/>
              <a:ext cx="2349300" cy="133500"/>
            </a:xfrm>
            <a:prstGeom prst="rect">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9"/>
            <p:cNvGrpSpPr/>
            <p:nvPr/>
          </p:nvGrpSpPr>
          <p:grpSpPr>
            <a:xfrm>
              <a:off x="6435788" y="2702604"/>
              <a:ext cx="1674600" cy="788688"/>
              <a:chOff x="6435788" y="2702604"/>
              <a:chExt cx="1674600" cy="788688"/>
            </a:xfrm>
          </p:grpSpPr>
          <p:grpSp>
            <p:nvGrpSpPr>
              <p:cNvPr id="167" name="Google Shape;167;p19"/>
              <p:cNvGrpSpPr/>
              <p:nvPr/>
            </p:nvGrpSpPr>
            <p:grpSpPr>
              <a:xfrm rot="10800000">
                <a:off x="6760035" y="3079467"/>
                <a:ext cx="92400" cy="411825"/>
                <a:chOff x="2070100" y="2563700"/>
                <a:chExt cx="92400" cy="411825"/>
              </a:xfrm>
            </p:grpSpPr>
            <p:cxnSp>
              <p:nvCxnSpPr>
                <p:cNvPr id="168" name="Google Shape;168;p19"/>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69" name="Google Shape;169;p19"/>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19"/>
              <p:cNvSpPr txBox="1"/>
              <p:nvPr/>
            </p:nvSpPr>
            <p:spPr>
              <a:xfrm>
                <a:off x="6435788" y="2702604"/>
                <a:ext cx="1674600" cy="359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latin typeface="Roboto"/>
                    <a:ea typeface="Roboto"/>
                    <a:cs typeface="Roboto"/>
                    <a:sym typeface="Roboto"/>
                  </a:rPr>
                  <a:t>Chat Response</a:t>
                </a:r>
                <a:endParaRPr b="1" sz="1200">
                  <a:latin typeface="Roboto"/>
                  <a:ea typeface="Roboto"/>
                  <a:cs typeface="Roboto"/>
                  <a:sym typeface="Roboto"/>
                </a:endParaRPr>
              </a:p>
            </p:txBody>
          </p:sp>
        </p:grpSp>
      </p:grpSp>
      <p:pic>
        <p:nvPicPr>
          <p:cNvPr id="171" name="Google Shape;171;p19"/>
          <p:cNvPicPr preferRelativeResize="0"/>
          <p:nvPr/>
        </p:nvPicPr>
        <p:blipFill rotWithShape="1">
          <a:blip r:embed="rId7">
            <a:alphaModFix/>
          </a:blip>
          <a:srcRect b="49215" l="-4610" r="4610" t="0"/>
          <a:stretch/>
        </p:blipFill>
        <p:spPr>
          <a:xfrm>
            <a:off x="4439400" y="3906625"/>
            <a:ext cx="4502500" cy="673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nvSpPr>
        <p:spPr>
          <a:xfrm>
            <a:off x="655525" y="210125"/>
            <a:ext cx="7572300" cy="569400"/>
          </a:xfrm>
          <a:prstGeom prst="rect">
            <a:avLst/>
          </a:prstGeom>
          <a:noFill/>
          <a:ln>
            <a:noFill/>
          </a:ln>
        </p:spPr>
        <p:txBody>
          <a:bodyPr anchorCtr="0" anchor="t" bIns="91425" lIns="91425" spcFirstLastPara="1" rIns="91425" wrap="square" tIns="91425">
            <a:normAutofit/>
          </a:bodyPr>
          <a:lstStyle/>
          <a:p>
            <a:pPr indent="0" lvl="0" marL="0" rtl="0" algn="l">
              <a:lnSpc>
                <a:spcPct val="730181"/>
              </a:lnSpc>
              <a:spcBef>
                <a:spcPts val="0"/>
              </a:spcBef>
              <a:spcAft>
                <a:spcPts val="0"/>
              </a:spcAft>
              <a:buNone/>
            </a:pPr>
            <a:r>
              <a:rPr b="1" lang="en" sz="2500">
                <a:solidFill>
                  <a:srgbClr val="A347F2"/>
                </a:solidFill>
                <a:latin typeface="Times New Roman"/>
                <a:ea typeface="Times New Roman"/>
                <a:cs typeface="Times New Roman"/>
                <a:sym typeface="Times New Roman"/>
              </a:rPr>
              <a:t>Problems faced </a:t>
            </a:r>
            <a:r>
              <a:rPr b="1" lang="en" sz="2500">
                <a:solidFill>
                  <a:schemeClr val="dk1"/>
                </a:solidFill>
                <a:latin typeface="Times New Roman"/>
                <a:ea typeface="Times New Roman"/>
                <a:cs typeface="Times New Roman"/>
                <a:sym typeface="Times New Roman"/>
              </a:rPr>
              <a:t>and solutions built</a:t>
            </a:r>
            <a:endParaRPr b="1" sz="2500">
              <a:solidFill>
                <a:schemeClr val="dk1"/>
              </a:solidFill>
              <a:latin typeface="Times New Roman"/>
              <a:ea typeface="Times New Roman"/>
              <a:cs typeface="Times New Roman"/>
              <a:sym typeface="Times New Roman"/>
            </a:endParaRPr>
          </a:p>
        </p:txBody>
      </p:sp>
      <p:sp>
        <p:nvSpPr>
          <p:cNvPr id="177" name="Google Shape;177;p20"/>
          <p:cNvSpPr txBox="1"/>
          <p:nvPr/>
        </p:nvSpPr>
        <p:spPr>
          <a:xfrm>
            <a:off x="0" y="1114525"/>
            <a:ext cx="4475700" cy="3430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b="1" lang="en" sz="1600">
                <a:latin typeface="Times New Roman"/>
                <a:ea typeface="Times New Roman"/>
                <a:cs typeface="Times New Roman"/>
                <a:sym typeface="Times New Roman"/>
              </a:rPr>
              <a:t>Existing problems</a:t>
            </a:r>
            <a:endParaRPr b="1" sz="1600">
              <a:latin typeface="Times New Roman"/>
              <a:ea typeface="Times New Roman"/>
              <a:cs typeface="Times New Roman"/>
              <a:sym typeface="Times New Roman"/>
            </a:endParaRPr>
          </a:p>
          <a:p>
            <a:pPr indent="-317500" lvl="0" marL="457200" rtl="0" algn="l">
              <a:lnSpc>
                <a:spcPct val="115000"/>
              </a:lnSpc>
              <a:spcBef>
                <a:spcPts val="700"/>
              </a:spcBef>
              <a:spcAft>
                <a:spcPts val="0"/>
              </a:spcAft>
              <a:buSzPts val="1400"/>
              <a:buFont typeface="Times New Roman"/>
              <a:buChar char="❖"/>
            </a:pPr>
            <a:r>
              <a:rPr b="1" lang="en">
                <a:latin typeface="Times New Roman"/>
                <a:ea typeface="Times New Roman"/>
                <a:cs typeface="Times New Roman"/>
                <a:sym typeface="Times New Roman"/>
              </a:rPr>
              <a:t>Multi-dimensional similarity</a:t>
            </a:r>
            <a:r>
              <a:rPr lang="en">
                <a:latin typeface="Times New Roman"/>
                <a:ea typeface="Times New Roman"/>
                <a:cs typeface="Times New Roman"/>
                <a:sym typeface="Times New Roman"/>
              </a:rPr>
              <a:t> — fashion items may match in one aspect (like color) yet differ in style, or pattern, making compatibility difficult for simple models to judge correctly</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b="1" lang="en">
                <a:latin typeface="Times New Roman"/>
                <a:ea typeface="Times New Roman"/>
                <a:cs typeface="Times New Roman"/>
                <a:sym typeface="Times New Roman"/>
              </a:rPr>
              <a:t>Agents lack personalization</a:t>
            </a:r>
            <a:endParaRPr b="1">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b="1" lang="en">
                <a:latin typeface="Times New Roman"/>
                <a:ea typeface="Times New Roman"/>
                <a:cs typeface="Times New Roman"/>
                <a:sym typeface="Times New Roman"/>
              </a:rPr>
              <a:t>Agents do not stick to customer requests</a:t>
            </a:r>
            <a:endParaRPr b="1">
              <a:latin typeface="Times New Roman"/>
              <a:ea typeface="Times New Roman"/>
              <a:cs typeface="Times New Roman"/>
              <a:sym typeface="Times New Roman"/>
            </a:endParaRPr>
          </a:p>
          <a:p>
            <a:pPr indent="0" lvl="0" marL="457200" rtl="0" algn="l">
              <a:lnSpc>
                <a:spcPct val="115000"/>
              </a:lnSpc>
              <a:spcBef>
                <a:spcPts val="700"/>
              </a:spcBef>
              <a:spcAft>
                <a:spcPts val="0"/>
              </a:spcAft>
              <a:buNone/>
            </a:pPr>
            <a:r>
              <a:rPr lang="en">
                <a:latin typeface="Times New Roman"/>
                <a:ea typeface="Times New Roman"/>
                <a:cs typeface="Times New Roman"/>
                <a:sym typeface="Times New Roman"/>
              </a:rPr>
              <a:t>Ex- when a customer asks for a pant for formal event, some ai models recommend shorts</a:t>
            </a:r>
            <a:endParaRPr>
              <a:latin typeface="Times New Roman"/>
              <a:ea typeface="Times New Roman"/>
              <a:cs typeface="Times New Roman"/>
              <a:sym typeface="Times New Roman"/>
            </a:endParaRPr>
          </a:p>
          <a:p>
            <a:pPr indent="-317500" lvl="0" marL="457200" rtl="0" algn="l">
              <a:lnSpc>
                <a:spcPct val="115000"/>
              </a:lnSpc>
              <a:spcBef>
                <a:spcPts val="700"/>
              </a:spcBef>
              <a:spcAft>
                <a:spcPts val="0"/>
              </a:spcAft>
              <a:buSzPts val="1400"/>
              <a:buFont typeface="Times New Roman"/>
              <a:buChar char="❖"/>
            </a:pPr>
            <a:r>
              <a:rPr b="1" lang="en">
                <a:latin typeface="Times New Roman"/>
                <a:ea typeface="Times New Roman"/>
                <a:cs typeface="Times New Roman"/>
                <a:sym typeface="Times New Roman"/>
              </a:rPr>
              <a:t>No conversational memory</a:t>
            </a:r>
            <a:r>
              <a:rPr lang="en">
                <a:latin typeface="Times New Roman"/>
                <a:ea typeface="Times New Roman"/>
                <a:cs typeface="Times New Roman"/>
                <a:sym typeface="Times New Roman"/>
              </a:rPr>
              <a:t> — agents forget previous context (e.g., occasion, colors, previous choices).</a:t>
            </a:r>
            <a:endParaRPr>
              <a:latin typeface="Times New Roman"/>
              <a:ea typeface="Times New Roman"/>
              <a:cs typeface="Times New Roman"/>
              <a:sym typeface="Times New Roman"/>
            </a:endParaRPr>
          </a:p>
        </p:txBody>
      </p:sp>
      <p:sp>
        <p:nvSpPr>
          <p:cNvPr id="178" name="Google Shape;178;p20"/>
          <p:cNvSpPr txBox="1"/>
          <p:nvPr/>
        </p:nvSpPr>
        <p:spPr>
          <a:xfrm>
            <a:off x="4475700" y="1152925"/>
            <a:ext cx="4392300" cy="300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b="1" lang="en" sz="1600">
                <a:solidFill>
                  <a:srgbClr val="0A0A0A"/>
                </a:solidFill>
              </a:rPr>
              <a:t>Solutions</a:t>
            </a:r>
            <a:endParaRPr b="1" sz="1600">
              <a:solidFill>
                <a:srgbClr val="0A0A0A"/>
              </a:solidFill>
            </a:endParaRPr>
          </a:p>
          <a:p>
            <a:pPr indent="-317500" lvl="0" marL="457200" rtl="0" algn="l">
              <a:lnSpc>
                <a:spcPct val="115000"/>
              </a:lnSpc>
              <a:spcBef>
                <a:spcPts val="700"/>
              </a:spcBef>
              <a:spcAft>
                <a:spcPts val="0"/>
              </a:spcAft>
              <a:buClr>
                <a:srgbClr val="0A0A0A"/>
              </a:buClr>
              <a:buSzPts val="1400"/>
              <a:buChar char="❖"/>
            </a:pPr>
            <a:r>
              <a:rPr b="1" lang="en">
                <a:solidFill>
                  <a:srgbClr val="0A0A0A"/>
                </a:solidFill>
                <a:latin typeface="Times New Roman"/>
                <a:ea typeface="Times New Roman"/>
                <a:cs typeface="Times New Roman"/>
                <a:sym typeface="Times New Roman"/>
              </a:rPr>
              <a:t>Personalization</a:t>
            </a:r>
            <a:r>
              <a:rPr lang="en">
                <a:solidFill>
                  <a:srgbClr val="0A0A0A"/>
                </a:solidFill>
                <a:latin typeface="Times New Roman"/>
                <a:ea typeface="Times New Roman"/>
                <a:cs typeface="Times New Roman"/>
                <a:sym typeface="Times New Roman"/>
              </a:rPr>
              <a:t> — we take user history into account while recommending products</a:t>
            </a:r>
            <a:endParaRPr>
              <a:solidFill>
                <a:srgbClr val="0A0A0A"/>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A0A0A"/>
              </a:buClr>
              <a:buSzPts val="1400"/>
              <a:buChar char="❖"/>
            </a:pPr>
            <a:r>
              <a:rPr b="1" lang="en">
                <a:solidFill>
                  <a:srgbClr val="0A0A0A"/>
                </a:solidFill>
                <a:latin typeface="Times New Roman"/>
                <a:ea typeface="Times New Roman"/>
                <a:cs typeface="Times New Roman"/>
                <a:sym typeface="Times New Roman"/>
              </a:rPr>
              <a:t>Stick to customer requests</a:t>
            </a:r>
            <a:r>
              <a:rPr lang="en">
                <a:solidFill>
                  <a:srgbClr val="0A0A0A"/>
                </a:solidFill>
                <a:latin typeface="Times New Roman"/>
                <a:ea typeface="Times New Roman"/>
                <a:cs typeface="Times New Roman"/>
                <a:sym typeface="Times New Roman"/>
              </a:rPr>
              <a:t> —created another layer for this purpose, which gives very high weight to current user query to ensure that they are taken into consideration</a:t>
            </a:r>
            <a:endParaRPr>
              <a:solidFill>
                <a:srgbClr val="0A0A0A"/>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A0A0A"/>
              </a:buClr>
              <a:buSzPts val="1400"/>
              <a:buFont typeface="Times New Roman"/>
              <a:buChar char="❖"/>
            </a:pPr>
            <a:r>
              <a:rPr b="1" lang="en">
                <a:solidFill>
                  <a:srgbClr val="0A0A0A"/>
                </a:solidFill>
                <a:latin typeface="Times New Roman"/>
                <a:ea typeface="Times New Roman"/>
                <a:cs typeface="Times New Roman"/>
                <a:sym typeface="Times New Roman"/>
              </a:rPr>
              <a:t>Conversational History maintained.</a:t>
            </a:r>
            <a:endParaRPr b="1">
              <a:solidFill>
                <a:srgbClr val="0A0A0A"/>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A0A0A"/>
              </a:buClr>
              <a:buSzPts val="1400"/>
              <a:buChar char="❖"/>
            </a:pPr>
            <a:r>
              <a:rPr b="1" lang="en">
                <a:solidFill>
                  <a:srgbClr val="0A0A0A"/>
                </a:solidFill>
                <a:latin typeface="Times New Roman"/>
                <a:ea typeface="Times New Roman"/>
                <a:cs typeface="Times New Roman"/>
                <a:sym typeface="Times New Roman"/>
              </a:rPr>
              <a:t>Ensures that all aspects are considered – </a:t>
            </a:r>
            <a:r>
              <a:rPr lang="en">
                <a:solidFill>
                  <a:srgbClr val="0A0A0A"/>
                </a:solidFill>
                <a:latin typeface="Times New Roman"/>
                <a:ea typeface="Times New Roman"/>
                <a:cs typeface="Times New Roman"/>
                <a:sym typeface="Times New Roman"/>
              </a:rPr>
              <a:t>ensure that all the aspects of the products are considered, instead of focusing on only 1 aspect.</a:t>
            </a:r>
            <a:endParaRPr>
              <a:solidFill>
                <a:srgbClr val="0A0A0A"/>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311700" y="218525"/>
            <a:ext cx="8520600" cy="59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347F2"/>
                </a:solidFill>
              </a:rPr>
              <a:t>Database</a:t>
            </a:r>
            <a:r>
              <a:rPr lang="en"/>
              <a:t> </a:t>
            </a:r>
            <a:r>
              <a:rPr b="1" lang="en"/>
              <a:t>scheme</a:t>
            </a:r>
            <a:endParaRPr b="1"/>
          </a:p>
        </p:txBody>
      </p:sp>
      <p:pic>
        <p:nvPicPr>
          <p:cNvPr id="184" name="Google Shape;184;p21"/>
          <p:cNvPicPr preferRelativeResize="0"/>
          <p:nvPr/>
        </p:nvPicPr>
        <p:blipFill>
          <a:blip r:embed="rId3">
            <a:alphaModFix/>
          </a:blip>
          <a:stretch>
            <a:fillRect/>
          </a:stretch>
        </p:blipFill>
        <p:spPr>
          <a:xfrm>
            <a:off x="526800" y="1029450"/>
            <a:ext cx="4678200" cy="3912325"/>
          </a:xfrm>
          <a:prstGeom prst="rect">
            <a:avLst/>
          </a:prstGeom>
          <a:noFill/>
          <a:ln>
            <a:noFill/>
          </a:ln>
        </p:spPr>
      </p:pic>
      <p:sp>
        <p:nvSpPr>
          <p:cNvPr id="185" name="Google Shape;185;p21"/>
          <p:cNvSpPr txBox="1"/>
          <p:nvPr/>
        </p:nvSpPr>
        <p:spPr>
          <a:xfrm>
            <a:off x="5269575" y="1551300"/>
            <a:ext cx="34956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The data is stored in a connected way so we can easily link every </a:t>
            </a:r>
            <a:r>
              <a:rPr b="1" lang="en">
                <a:solidFill>
                  <a:schemeClr val="dk1"/>
                </a:solidFill>
                <a:latin typeface="Times New Roman"/>
                <a:ea typeface="Times New Roman"/>
                <a:cs typeface="Times New Roman"/>
                <a:sym typeface="Times New Roman"/>
              </a:rPr>
              <a:t>customer</a:t>
            </a:r>
            <a:r>
              <a:rPr lang="en">
                <a:solidFill>
                  <a:schemeClr val="dk1"/>
                </a:solidFill>
                <a:latin typeface="Times New Roman"/>
                <a:ea typeface="Times New Roman"/>
                <a:cs typeface="Times New Roman"/>
                <a:sym typeface="Times New Roman"/>
              </a:rPr>
              <a:t>, </a:t>
            </a:r>
            <a:r>
              <a:rPr b="1" lang="en">
                <a:solidFill>
                  <a:schemeClr val="dk1"/>
                </a:solidFill>
                <a:latin typeface="Times New Roman"/>
                <a:ea typeface="Times New Roman"/>
                <a:cs typeface="Times New Roman"/>
                <a:sym typeface="Times New Roman"/>
              </a:rPr>
              <a:t>product</a:t>
            </a:r>
            <a:r>
              <a:rPr lang="en">
                <a:solidFill>
                  <a:schemeClr val="dk1"/>
                </a:solidFill>
                <a:latin typeface="Times New Roman"/>
                <a:ea typeface="Times New Roman"/>
                <a:cs typeface="Times New Roman"/>
                <a:sym typeface="Times New Roman"/>
              </a:rPr>
              <a:t>, and </a:t>
            </a:r>
            <a:r>
              <a:rPr b="1" lang="en">
                <a:solidFill>
                  <a:schemeClr val="dk1"/>
                </a:solidFill>
                <a:latin typeface="Times New Roman"/>
                <a:ea typeface="Times New Roman"/>
                <a:cs typeface="Times New Roman"/>
                <a:sym typeface="Times New Roman"/>
              </a:rPr>
              <a:t>transaction</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a:solidFill>
                  <a:schemeClr val="dk1"/>
                </a:solidFill>
                <a:latin typeface="Times New Roman"/>
                <a:ea typeface="Times New Roman"/>
                <a:cs typeface="Times New Roman"/>
                <a:sym typeface="Times New Roman"/>
              </a:rPr>
              <a:t>This structure makes it easy to get complete details about any purchase, customer behaviour, or product performance.</a:t>
            </a:r>
            <a:endParaRPr sz="21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218525"/>
            <a:ext cx="8520600" cy="59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347F2"/>
                </a:solidFill>
              </a:rPr>
              <a:t>Policy</a:t>
            </a:r>
            <a:r>
              <a:rPr lang="en"/>
              <a:t> </a:t>
            </a:r>
            <a:r>
              <a:rPr b="1" lang="en"/>
              <a:t>Dataset</a:t>
            </a:r>
            <a:endParaRPr b="1"/>
          </a:p>
        </p:txBody>
      </p:sp>
      <p:sp>
        <p:nvSpPr>
          <p:cNvPr id="191" name="Google Shape;191;p22"/>
          <p:cNvSpPr txBox="1"/>
          <p:nvPr/>
        </p:nvSpPr>
        <p:spPr>
          <a:xfrm>
            <a:off x="142450" y="945225"/>
            <a:ext cx="8481900" cy="3653400"/>
          </a:xfrm>
          <a:prstGeom prst="rect">
            <a:avLst/>
          </a:prstGeom>
          <a:noFill/>
          <a:ln>
            <a:noFill/>
          </a:ln>
        </p:spPr>
        <p:txBody>
          <a:bodyPr anchorCtr="0" anchor="t" bIns="91425" lIns="91425" spcFirstLastPara="1" rIns="91425" wrap="square" tIns="91425">
            <a:spAutoFit/>
          </a:bodyPr>
          <a:lstStyle/>
          <a:p>
            <a:pPr indent="-330200" lvl="0" marL="4572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 comprehensive policy framework was developed using ChatGPT, drawing references from established policy documents of leading clothing retailers such as H&amp;M, Marks &amp; Spencer (M&amp;S), and Levi’s. </a:t>
            </a:r>
            <a:endParaRPr sz="1600">
              <a:solidFill>
                <a:schemeClr val="dk1"/>
              </a:solidFill>
              <a:latin typeface="Times New Roman"/>
              <a:ea typeface="Times New Roman"/>
              <a:cs typeface="Times New Roman"/>
              <a:sym typeface="Times New Roman"/>
            </a:endParaRPr>
          </a:p>
          <a:p>
            <a:pPr indent="-330200" lvl="0" marL="4572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 formulated document encompasses key operational and customer-centric policies, including exchange, refund, and return procedures, garment recycling initiatives, loyalty and reward programs, as well as gifting policies.</a:t>
            </a:r>
            <a:endParaRPr sz="1600">
              <a:solidFill>
                <a:schemeClr val="dk1"/>
              </a:solidFill>
              <a:latin typeface="Times New Roman"/>
              <a:ea typeface="Times New Roman"/>
              <a:cs typeface="Times New Roman"/>
              <a:sym typeface="Times New Roman"/>
            </a:endParaRPr>
          </a:p>
          <a:p>
            <a:pPr indent="-304800" lvl="0" marL="457200" rtl="0" algn="l">
              <a:lnSpc>
                <a:spcPct val="107916"/>
              </a:lnSpc>
              <a:spcBef>
                <a:spcPts val="0"/>
              </a:spcBef>
              <a:spcAft>
                <a:spcPts val="0"/>
              </a:spcAft>
              <a:buClr>
                <a:schemeClr val="dk1"/>
              </a:buClr>
              <a:buSzPts val="1200"/>
              <a:buFont typeface="Times New Roman"/>
              <a:buChar char="●"/>
            </a:pPr>
            <a:r>
              <a:rPr b="1" lang="en" sz="1600">
                <a:solidFill>
                  <a:schemeClr val="dk1"/>
                </a:solidFill>
                <a:latin typeface="Times New Roman"/>
                <a:ea typeface="Times New Roman"/>
                <a:cs typeface="Times New Roman"/>
                <a:sym typeface="Times New Roman"/>
              </a:rPr>
              <a:t>Link to the policy Document:</a:t>
            </a:r>
            <a:r>
              <a:rPr lang="en" sz="1600">
                <a:solidFill>
                  <a:schemeClr val="dk1"/>
                </a:solidFill>
                <a:latin typeface="Times New Roman"/>
                <a:ea typeface="Times New Roman"/>
                <a:cs typeface="Times New Roman"/>
                <a:sym typeface="Times New Roman"/>
              </a:rPr>
              <a:t> </a:t>
            </a:r>
            <a:r>
              <a:rPr lang="en" sz="1800" u="sng">
                <a:solidFill>
                  <a:schemeClr val="accent5"/>
                </a:solidFill>
                <a:latin typeface="Times New Roman"/>
                <a:ea typeface="Times New Roman"/>
                <a:cs typeface="Times New Roman"/>
                <a:sym typeface="Times New Roman"/>
                <a:hlinkClick r:id="rId3">
                  <a:extLst>
                    <a:ext uri="{A12FA001-AC4F-418D-AE19-62706E023703}">
                      <ahyp:hlinkClr val="tx"/>
                    </a:ext>
                  </a:extLst>
                </a:hlinkClick>
              </a:rPr>
              <a:t>Policy</a:t>
            </a:r>
            <a:endParaRPr b="1" sz="1200">
              <a:solidFill>
                <a:schemeClr val="dk1"/>
              </a:solidFill>
              <a:latin typeface="Times New Roman"/>
              <a:ea typeface="Times New Roman"/>
              <a:cs typeface="Times New Roman"/>
              <a:sym typeface="Times New Roman"/>
            </a:endParaRPr>
          </a:p>
          <a:p>
            <a:pPr indent="-330200" lvl="0" marL="457200" rtl="0" algn="l">
              <a:lnSpc>
                <a:spcPct val="107916"/>
              </a:lnSpc>
              <a:spcBef>
                <a:spcPts val="0"/>
              </a:spcBef>
              <a:spcAft>
                <a:spcPts val="0"/>
              </a:spcAft>
              <a:buClr>
                <a:schemeClr val="dk1"/>
              </a:buClr>
              <a:buSzPts val="1600"/>
              <a:buFont typeface="Times New Roman"/>
              <a:buChar char="●"/>
            </a:pPr>
            <a:r>
              <a:rPr b="1" lang="en" sz="1600">
                <a:solidFill>
                  <a:schemeClr val="dk1"/>
                </a:solidFill>
                <a:latin typeface="Times New Roman"/>
                <a:ea typeface="Times New Roman"/>
                <a:cs typeface="Times New Roman"/>
                <a:sym typeface="Times New Roman"/>
              </a:rPr>
              <a:t>Summary Stats on Policy Document:</a:t>
            </a:r>
            <a:endParaRPr b="1" sz="1600">
              <a:solidFill>
                <a:schemeClr val="dk1"/>
              </a:solidFill>
              <a:latin typeface="Times New Roman"/>
              <a:ea typeface="Times New Roman"/>
              <a:cs typeface="Times New Roman"/>
              <a:sym typeface="Times New Roman"/>
            </a:endParaRPr>
          </a:p>
          <a:p>
            <a:pPr indent="-330200" lvl="1" marL="9144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Minimum policy word count - 43</a:t>
            </a:r>
            <a:endParaRPr sz="1600">
              <a:solidFill>
                <a:schemeClr val="dk1"/>
              </a:solidFill>
              <a:latin typeface="Times New Roman"/>
              <a:ea typeface="Times New Roman"/>
              <a:cs typeface="Times New Roman"/>
              <a:sym typeface="Times New Roman"/>
            </a:endParaRPr>
          </a:p>
          <a:p>
            <a:pPr indent="-330200" lvl="1" marL="9144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Max policy word count - 760</a:t>
            </a:r>
            <a:endParaRPr sz="1600">
              <a:solidFill>
                <a:schemeClr val="dk1"/>
              </a:solidFill>
              <a:latin typeface="Times New Roman"/>
              <a:ea typeface="Times New Roman"/>
              <a:cs typeface="Times New Roman"/>
              <a:sym typeface="Times New Roman"/>
            </a:endParaRPr>
          </a:p>
          <a:p>
            <a:pPr indent="-330200" lvl="1" marL="9144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Median policy word count - 433</a:t>
            </a:r>
            <a:endParaRPr sz="1600">
              <a:solidFill>
                <a:schemeClr val="dk1"/>
              </a:solidFill>
              <a:latin typeface="Times New Roman"/>
              <a:ea typeface="Times New Roman"/>
              <a:cs typeface="Times New Roman"/>
              <a:sym typeface="Times New Roman"/>
            </a:endParaRPr>
          </a:p>
          <a:p>
            <a:pPr indent="-330200" lvl="1" marL="9144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Mean/average policy word count - 396</a:t>
            </a:r>
            <a:endParaRPr sz="1600">
              <a:solidFill>
                <a:schemeClr val="dk1"/>
              </a:solidFill>
              <a:latin typeface="Times New Roman"/>
              <a:ea typeface="Times New Roman"/>
              <a:cs typeface="Times New Roman"/>
              <a:sym typeface="Times New Roman"/>
            </a:endParaRPr>
          </a:p>
          <a:p>
            <a:pPr indent="-330200" lvl="1" marL="914400" rtl="0" algn="l">
              <a:lnSpc>
                <a:spcPct val="107916"/>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Most common range for each policy- 350-500</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2500">
                <a:solidFill>
                  <a:srgbClr val="A347F2"/>
                </a:solidFill>
                <a:latin typeface="Times New Roman"/>
                <a:ea typeface="Times New Roman"/>
                <a:cs typeface="Times New Roman"/>
                <a:sym typeface="Times New Roman"/>
              </a:rPr>
              <a:t>EDA on</a:t>
            </a:r>
            <a:r>
              <a:rPr lang="en" sz="2500">
                <a:latin typeface="Times New Roman"/>
                <a:ea typeface="Times New Roman"/>
                <a:cs typeface="Times New Roman"/>
                <a:sym typeface="Times New Roman"/>
              </a:rPr>
              <a:t> </a:t>
            </a:r>
            <a:r>
              <a:rPr b="1" lang="en" sz="2500">
                <a:latin typeface="Times New Roman"/>
                <a:ea typeface="Times New Roman"/>
                <a:cs typeface="Times New Roman"/>
                <a:sym typeface="Times New Roman"/>
              </a:rPr>
              <a:t>Product Dataset </a:t>
            </a:r>
            <a:endParaRPr b="1" sz="2500">
              <a:latin typeface="Times New Roman"/>
              <a:ea typeface="Times New Roman"/>
              <a:cs typeface="Times New Roman"/>
              <a:sym typeface="Times New Roman"/>
            </a:endParaRPr>
          </a:p>
        </p:txBody>
      </p:sp>
      <p:sp>
        <p:nvSpPr>
          <p:cNvPr id="197" name="Google Shape;197;p23"/>
          <p:cNvSpPr txBox="1"/>
          <p:nvPr>
            <p:ph idx="1" type="body"/>
          </p:nvPr>
        </p:nvSpPr>
        <p:spPr>
          <a:xfrm>
            <a:off x="311700" y="1183525"/>
            <a:ext cx="8520600" cy="39597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Dataset Overview:</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T</a:t>
            </a:r>
            <a:r>
              <a:rPr b="1" lang="en">
                <a:solidFill>
                  <a:schemeClr val="dk1"/>
                </a:solidFill>
                <a:latin typeface="Times New Roman"/>
                <a:ea typeface="Times New Roman"/>
                <a:cs typeface="Times New Roman"/>
                <a:sym typeface="Times New Roman"/>
              </a:rPr>
              <a:t>otal Records:</a:t>
            </a:r>
            <a:r>
              <a:rPr lang="en">
                <a:solidFill>
                  <a:schemeClr val="dk1"/>
                </a:solidFill>
                <a:latin typeface="Times New Roman"/>
                <a:ea typeface="Times New Roman"/>
                <a:cs typeface="Times New Roman"/>
                <a:sym typeface="Times New Roman"/>
              </a:rPr>
              <a:t> 105,542</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Total Features:</a:t>
            </a:r>
            <a:r>
              <a:rPr lang="en">
                <a:solidFill>
                  <a:schemeClr val="dk1"/>
                </a:solidFill>
                <a:latin typeface="Times New Roman"/>
                <a:ea typeface="Times New Roman"/>
                <a:cs typeface="Times New Roman"/>
                <a:sym typeface="Times New Roman"/>
              </a:rPr>
              <a:t> 25</a:t>
            </a:r>
            <a:endParaRPr>
              <a:solidFill>
                <a:schemeClr val="dk1"/>
              </a:solidFill>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Data Cleaning	</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Filtered </a:t>
            </a:r>
            <a:r>
              <a:rPr b="1" lang="en">
                <a:solidFill>
                  <a:schemeClr val="dk1"/>
                </a:solidFill>
                <a:latin typeface="Times New Roman"/>
                <a:ea typeface="Times New Roman"/>
                <a:cs typeface="Times New Roman"/>
                <a:sym typeface="Times New Roman"/>
              </a:rPr>
              <a:t>out non-clothing categories</a:t>
            </a:r>
            <a:r>
              <a:rPr lang="en">
                <a:solidFill>
                  <a:schemeClr val="dk1"/>
                </a:solidFill>
                <a:latin typeface="Times New Roman"/>
                <a:ea typeface="Times New Roman"/>
                <a:cs typeface="Times New Roman"/>
                <a:sym typeface="Times New Roman"/>
              </a:rPr>
              <a:t> (Shoes, Bags, Underwear, Accessories, etc.)</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Final dataset after filtering: </a:t>
            </a:r>
            <a:r>
              <a:rPr b="1" lang="en">
                <a:solidFill>
                  <a:schemeClr val="dk1"/>
                </a:solidFill>
                <a:latin typeface="Times New Roman"/>
                <a:ea typeface="Times New Roman"/>
                <a:cs typeface="Times New Roman"/>
                <a:sym typeface="Times New Roman"/>
              </a:rPr>
              <a:t>78,017 clothing items</a:t>
            </a:r>
            <a:endParaRPr b="1">
              <a:solidFill>
                <a:schemeClr val="dk1"/>
              </a:solidFill>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Feature Types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Numeric Columns:</a:t>
            </a:r>
            <a:r>
              <a:rPr lang="en">
                <a:solidFill>
                  <a:schemeClr val="dk1"/>
                </a:solidFill>
                <a:latin typeface="Times New Roman"/>
                <a:ea typeface="Times New Roman"/>
                <a:cs typeface="Times New Roman"/>
                <a:sym typeface="Times New Roman"/>
              </a:rPr>
              <a:t> 11</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Categorical Columns:</a:t>
            </a:r>
            <a:r>
              <a:rPr lang="en">
                <a:solidFill>
                  <a:schemeClr val="dk1"/>
                </a:solidFill>
                <a:latin typeface="Times New Roman"/>
                <a:ea typeface="Times New Roman"/>
                <a:cs typeface="Times New Roman"/>
                <a:sym typeface="Times New Roman"/>
              </a:rPr>
              <a:t> 15</a:t>
            </a:r>
            <a:endParaRPr>
              <a:solidFill>
                <a:schemeClr val="dk1"/>
              </a:solidFill>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Missing Values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Only </a:t>
            </a:r>
            <a:r>
              <a:rPr b="1" lang="en">
                <a:solidFill>
                  <a:schemeClr val="dk1"/>
                </a:solidFill>
                <a:latin typeface="Times New Roman"/>
                <a:ea typeface="Times New Roman"/>
                <a:cs typeface="Times New Roman"/>
                <a:sym typeface="Times New Roman"/>
              </a:rPr>
              <a:t>detail_desc</a:t>
            </a:r>
            <a:r>
              <a:rPr lang="en">
                <a:solidFill>
                  <a:schemeClr val="dk1"/>
                </a:solidFill>
                <a:latin typeface="Times New Roman"/>
                <a:ea typeface="Times New Roman"/>
                <a:cs typeface="Times New Roman"/>
                <a:sym typeface="Times New Roman"/>
              </a:rPr>
              <a:t> column contains missing values (≈0.3%)</a:t>
            </a:r>
            <a:endParaRPr>
              <a:solidFill>
                <a:schemeClr val="dk1"/>
              </a:solidFill>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Key Insights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Most Common Product Type: </a:t>
            </a:r>
            <a:r>
              <a:rPr lang="en">
                <a:solidFill>
                  <a:srgbClr val="A347F2"/>
                </a:solidFill>
                <a:latin typeface="Times New Roman"/>
                <a:ea typeface="Times New Roman"/>
                <a:cs typeface="Times New Roman"/>
                <a:sym typeface="Times New Roman"/>
              </a:rPr>
              <a:t>Trousers</a:t>
            </a:r>
            <a:r>
              <a:rPr lang="en">
                <a:solidFill>
                  <a:schemeClr val="dk1"/>
                </a:solidFill>
                <a:latin typeface="Times New Roman"/>
                <a:ea typeface="Times New Roman"/>
                <a:cs typeface="Times New Roman"/>
                <a:sym typeface="Times New Roman"/>
              </a:rPr>
              <a:t> (11,169 entries)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Most Frequent Color:</a:t>
            </a:r>
            <a:r>
              <a:rPr lang="en">
                <a:solidFill>
                  <a:schemeClr val="dk1"/>
                </a:solidFill>
                <a:latin typeface="Times New Roman"/>
                <a:ea typeface="Times New Roman"/>
                <a:cs typeface="Times New Roman"/>
                <a:sym typeface="Times New Roman"/>
              </a:rPr>
              <a:t> </a:t>
            </a:r>
            <a:r>
              <a:rPr lang="en">
                <a:solidFill>
                  <a:srgbClr val="A347F2"/>
                </a:solidFill>
                <a:latin typeface="Times New Roman"/>
                <a:ea typeface="Times New Roman"/>
                <a:cs typeface="Times New Roman"/>
                <a:sym typeface="Times New Roman"/>
              </a:rPr>
              <a:t>Black </a:t>
            </a:r>
            <a:r>
              <a:rPr lang="en">
                <a:solidFill>
                  <a:schemeClr val="dk1"/>
                </a:solidFill>
                <a:latin typeface="Times New Roman"/>
                <a:ea typeface="Times New Roman"/>
                <a:cs typeface="Times New Roman"/>
                <a:sym typeface="Times New Roman"/>
              </a:rPr>
              <a:t>(22,670 entries)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Most Common Appearance:</a:t>
            </a:r>
            <a:r>
              <a:rPr lang="en">
                <a:solidFill>
                  <a:srgbClr val="A347F2"/>
                </a:solidFill>
                <a:latin typeface="Times New Roman"/>
                <a:ea typeface="Times New Roman"/>
                <a:cs typeface="Times New Roman"/>
                <a:sym typeface="Times New Roman"/>
              </a:rPr>
              <a:t> Solid pattern </a:t>
            </a:r>
            <a:r>
              <a:rPr lang="en">
                <a:solidFill>
                  <a:schemeClr val="dk1"/>
                </a:solidFill>
                <a:latin typeface="Times New Roman"/>
                <a:ea typeface="Times New Roman"/>
                <a:cs typeface="Times New Roman"/>
                <a:sym typeface="Times New Roman"/>
              </a:rPr>
              <a:t>(49,747 entries)</a:t>
            </a:r>
            <a:endParaRPr>
              <a:solidFill>
                <a:schemeClr val="dk1"/>
              </a:solidFill>
              <a:latin typeface="Times New Roman"/>
              <a:ea typeface="Times New Roman"/>
              <a:cs typeface="Times New Roman"/>
              <a:sym typeface="Times New Roman"/>
            </a:endParaRPr>
          </a:p>
          <a:p>
            <a:pPr indent="-310832" lvl="1" marL="914400" rtl="0" algn="l">
              <a:spcBef>
                <a:spcPts val="0"/>
              </a:spcBef>
              <a:spcAft>
                <a:spcPts val="0"/>
              </a:spcAft>
              <a:buClr>
                <a:schemeClr val="dk1"/>
              </a:buClr>
              <a:buSzPct val="100000"/>
              <a:buFont typeface="Times New Roman"/>
              <a:buChar char="○"/>
            </a:pPr>
            <a:r>
              <a:rPr b="1" lang="en">
                <a:solidFill>
                  <a:schemeClr val="dk1"/>
                </a:solidFill>
                <a:latin typeface="Times New Roman"/>
                <a:ea typeface="Times New Roman"/>
                <a:cs typeface="Times New Roman"/>
                <a:sym typeface="Times New Roman"/>
              </a:rPr>
              <a:t>Most Frequent Item Name:</a:t>
            </a:r>
            <a:r>
              <a:rPr lang="en">
                <a:solidFill>
                  <a:schemeClr val="dk1"/>
                </a:solidFill>
                <a:latin typeface="Times New Roman"/>
                <a:ea typeface="Times New Roman"/>
                <a:cs typeface="Times New Roman"/>
                <a:sym typeface="Times New Roman"/>
              </a:rPr>
              <a:t> </a:t>
            </a:r>
            <a:r>
              <a:rPr lang="en">
                <a:solidFill>
                  <a:srgbClr val="A347F2"/>
                </a:solidFill>
                <a:latin typeface="Times New Roman"/>
                <a:ea typeface="Times New Roman"/>
                <a:cs typeface="Times New Roman"/>
                <a:sym typeface="Times New Roman"/>
              </a:rPr>
              <a:t>Dragonfly Dress</a:t>
            </a:r>
            <a:r>
              <a:rPr lang="en">
                <a:solidFill>
                  <a:schemeClr val="dk1"/>
                </a:solidFill>
                <a:latin typeface="Times New Roman"/>
                <a:ea typeface="Times New Roman"/>
                <a:cs typeface="Times New Roman"/>
                <a:sym typeface="Times New Roman"/>
              </a:rPr>
              <a:t> (98 entries)</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311700" y="1689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latin typeface="Times New Roman"/>
                <a:ea typeface="Times New Roman"/>
                <a:cs typeface="Times New Roman"/>
                <a:sym typeface="Times New Roman"/>
              </a:rPr>
              <a:t>Sample</a:t>
            </a:r>
            <a:r>
              <a:rPr b="1" lang="en" sz="2500">
                <a:solidFill>
                  <a:srgbClr val="A347F2"/>
                </a:solidFill>
                <a:latin typeface="Times New Roman"/>
                <a:ea typeface="Times New Roman"/>
                <a:cs typeface="Times New Roman"/>
                <a:sym typeface="Times New Roman"/>
              </a:rPr>
              <a:t> </a:t>
            </a:r>
            <a:r>
              <a:rPr b="1" lang="en" sz="2500">
                <a:solidFill>
                  <a:srgbClr val="A347F2"/>
                </a:solidFill>
                <a:latin typeface="Times New Roman"/>
                <a:ea typeface="Times New Roman"/>
                <a:cs typeface="Times New Roman"/>
                <a:sym typeface="Times New Roman"/>
              </a:rPr>
              <a:t>Product Dataset </a:t>
            </a:r>
            <a:endParaRPr b="1" sz="2500">
              <a:solidFill>
                <a:srgbClr val="A347F2"/>
              </a:solidFill>
              <a:latin typeface="Times New Roman"/>
              <a:ea typeface="Times New Roman"/>
              <a:cs typeface="Times New Roman"/>
              <a:sym typeface="Times New Roman"/>
            </a:endParaRPr>
          </a:p>
        </p:txBody>
      </p:sp>
      <p:pic>
        <p:nvPicPr>
          <p:cNvPr id="203" name="Google Shape;203;p24"/>
          <p:cNvPicPr preferRelativeResize="0"/>
          <p:nvPr/>
        </p:nvPicPr>
        <p:blipFill rotWithShape="1">
          <a:blip r:embed="rId3">
            <a:alphaModFix/>
          </a:blip>
          <a:srcRect b="32244" l="3000" r="2050" t="0"/>
          <a:stretch/>
        </p:blipFill>
        <p:spPr>
          <a:xfrm>
            <a:off x="412177" y="1017025"/>
            <a:ext cx="7947649" cy="1161125"/>
          </a:xfrm>
          <a:prstGeom prst="rect">
            <a:avLst/>
          </a:prstGeom>
          <a:noFill/>
          <a:ln>
            <a:noFill/>
          </a:ln>
        </p:spPr>
      </p:pic>
      <p:pic>
        <p:nvPicPr>
          <p:cNvPr id="204" name="Google Shape;204;p24"/>
          <p:cNvPicPr preferRelativeResize="0"/>
          <p:nvPr/>
        </p:nvPicPr>
        <p:blipFill rotWithShape="1">
          <a:blip r:embed="rId4">
            <a:alphaModFix/>
          </a:blip>
          <a:srcRect b="34798" l="0" r="14987" t="0"/>
          <a:stretch/>
        </p:blipFill>
        <p:spPr>
          <a:xfrm>
            <a:off x="498925" y="2571745"/>
            <a:ext cx="7774126" cy="132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262550" y="1665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500">
                <a:solidFill>
                  <a:srgbClr val="A347F2"/>
                </a:solidFill>
                <a:latin typeface="Times New Roman"/>
                <a:ea typeface="Times New Roman"/>
                <a:cs typeface="Times New Roman"/>
                <a:sym typeface="Times New Roman"/>
              </a:rPr>
              <a:t>Embedders</a:t>
            </a:r>
            <a:r>
              <a:rPr b="1" lang="en" sz="2500">
                <a:latin typeface="Times New Roman"/>
                <a:ea typeface="Times New Roman"/>
                <a:cs typeface="Times New Roman"/>
                <a:sym typeface="Times New Roman"/>
              </a:rPr>
              <a:t> Used</a:t>
            </a:r>
            <a:endParaRPr b="1" sz="2500">
              <a:solidFill>
                <a:srgbClr val="A347F2"/>
              </a:solidFill>
              <a:latin typeface="Times New Roman"/>
              <a:ea typeface="Times New Roman"/>
              <a:cs typeface="Times New Roman"/>
              <a:sym typeface="Times New Roman"/>
            </a:endParaRPr>
          </a:p>
        </p:txBody>
      </p:sp>
      <p:sp>
        <p:nvSpPr>
          <p:cNvPr id="210" name="Google Shape;210;p25"/>
          <p:cNvSpPr txBox="1"/>
          <p:nvPr>
            <p:ph idx="1" type="body"/>
          </p:nvPr>
        </p:nvSpPr>
        <p:spPr>
          <a:xfrm>
            <a:off x="355500" y="889725"/>
            <a:ext cx="8732700" cy="399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Times New Roman"/>
                <a:ea typeface="Times New Roman"/>
                <a:cs typeface="Times New Roman"/>
                <a:sym typeface="Times New Roman"/>
              </a:rPr>
              <a:t>BGE Sentence Transformer</a:t>
            </a:r>
            <a:endParaRPr b="1">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Specifically tuned for </a:t>
            </a:r>
            <a:r>
              <a:rPr b="1" lang="en" sz="1600">
                <a:solidFill>
                  <a:schemeClr val="dk1"/>
                </a:solidFill>
                <a:latin typeface="Times New Roman"/>
                <a:ea typeface="Times New Roman"/>
                <a:cs typeface="Times New Roman"/>
                <a:sym typeface="Times New Roman"/>
              </a:rPr>
              <a:t>dense retrieval in RAG</a:t>
            </a:r>
            <a:r>
              <a:rPr lang="en" sz="1600">
                <a:solidFill>
                  <a:schemeClr val="dk1"/>
                </a:solidFill>
                <a:latin typeface="Times New Roman"/>
                <a:ea typeface="Times New Roman"/>
                <a:cs typeface="Times New Roman"/>
                <a:sym typeface="Times New Roman"/>
              </a:rPr>
              <a:t>, where matching query and context meaning matters more than syntax.</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Delivers </a:t>
            </a:r>
            <a:r>
              <a:rPr b="1" lang="en" sz="1600">
                <a:solidFill>
                  <a:schemeClr val="dk1"/>
                </a:solidFill>
                <a:latin typeface="Times New Roman"/>
                <a:ea typeface="Times New Roman"/>
                <a:cs typeface="Times New Roman"/>
                <a:sym typeface="Times New Roman"/>
              </a:rPr>
              <a:t>strong performance in multilingual and domain-agnostic document search</a:t>
            </a:r>
            <a:r>
              <a:rPr lang="en" sz="1600">
                <a:solidFill>
                  <a:schemeClr val="dk1"/>
                </a:solidFill>
                <a:latin typeface="Times New Roman"/>
                <a:ea typeface="Times New Roman"/>
                <a:cs typeface="Times New Roman"/>
                <a:sym typeface="Times New Roman"/>
              </a:rPr>
              <a:t>, making it versatile for global or diverse datasets.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Smaller models (like bge-small-en or bge-base-en) give </a:t>
            </a:r>
            <a:r>
              <a:rPr b="1" lang="en" sz="1600">
                <a:solidFill>
                  <a:schemeClr val="dk1"/>
                </a:solidFill>
                <a:latin typeface="Times New Roman"/>
                <a:ea typeface="Times New Roman"/>
                <a:cs typeface="Times New Roman"/>
                <a:sym typeface="Times New Roman"/>
              </a:rPr>
              <a:t>excellent performance-to-size ratio</a:t>
            </a:r>
            <a:r>
              <a:rPr lang="en" sz="1600">
                <a:solidFill>
                  <a:schemeClr val="dk1"/>
                </a:solidFill>
                <a:latin typeface="Times New Roman"/>
                <a:ea typeface="Times New Roman"/>
                <a:cs typeface="Times New Roman"/>
                <a:sym typeface="Times New Roman"/>
              </a:rPr>
              <a:t>, ideal for local or edge RAG setups.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Strong alignment with LLM-based question answering pipelines — integrates well with vector databases (like FAISS, Milvus, Chroma).</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b="1" lang="en" sz="1600">
                <a:solidFill>
                  <a:schemeClr val="dk1"/>
                </a:solidFill>
                <a:latin typeface="Times New Roman"/>
                <a:ea typeface="Times New Roman"/>
                <a:cs typeface="Times New Roman"/>
                <a:sym typeface="Times New Roman"/>
              </a:rPr>
              <a:t>Product RAG: </a:t>
            </a:r>
            <a:r>
              <a:rPr lang="en" sz="1600">
                <a:solidFill>
                  <a:schemeClr val="dk1"/>
                </a:solidFill>
                <a:latin typeface="Times New Roman"/>
                <a:ea typeface="Times New Roman"/>
                <a:cs typeface="Times New Roman"/>
                <a:sym typeface="Times New Roman"/>
              </a:rPr>
              <a:t>BAAI/bge-small-en-v1.5</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b="1" lang="en" sz="1600">
                <a:solidFill>
                  <a:schemeClr val="dk1"/>
                </a:solidFill>
                <a:latin typeface="Times New Roman"/>
                <a:ea typeface="Times New Roman"/>
                <a:cs typeface="Times New Roman"/>
                <a:sym typeface="Times New Roman"/>
              </a:rPr>
              <a:t>Policy RAG: </a:t>
            </a:r>
            <a:r>
              <a:rPr lang="en" sz="1600">
                <a:solidFill>
                  <a:schemeClr val="dk1"/>
                </a:solidFill>
                <a:latin typeface="Times New Roman"/>
                <a:ea typeface="Times New Roman"/>
                <a:cs typeface="Times New Roman"/>
                <a:sym typeface="Times New Roman"/>
              </a:rPr>
              <a:t>BAAI/bge-base-en-v1.5</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type="title"/>
          </p:nvPr>
        </p:nvSpPr>
        <p:spPr>
          <a:xfrm>
            <a:off x="205025" y="194550"/>
            <a:ext cx="209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Chatbot</a:t>
            </a:r>
            <a:r>
              <a:rPr lang="en">
                <a:latin typeface="Times New Roman"/>
                <a:ea typeface="Times New Roman"/>
                <a:cs typeface="Times New Roman"/>
                <a:sym typeface="Times New Roman"/>
              </a:rPr>
              <a:t> </a:t>
            </a:r>
            <a:r>
              <a:rPr lang="en">
                <a:solidFill>
                  <a:srgbClr val="A347F2"/>
                </a:solidFill>
                <a:latin typeface="Times New Roman"/>
                <a:ea typeface="Times New Roman"/>
                <a:cs typeface="Times New Roman"/>
                <a:sym typeface="Times New Roman"/>
              </a:rPr>
              <a:t>Flow</a:t>
            </a:r>
            <a:endParaRPr>
              <a:solidFill>
                <a:srgbClr val="A347F2"/>
              </a:solidFill>
              <a:latin typeface="Times New Roman"/>
              <a:ea typeface="Times New Roman"/>
              <a:cs typeface="Times New Roman"/>
              <a:sym typeface="Times New Roman"/>
            </a:endParaRPr>
          </a:p>
        </p:txBody>
      </p:sp>
      <p:pic>
        <p:nvPicPr>
          <p:cNvPr id="216" name="Google Shape;216;p26"/>
          <p:cNvPicPr preferRelativeResize="0"/>
          <p:nvPr/>
        </p:nvPicPr>
        <p:blipFill>
          <a:blip r:embed="rId3">
            <a:alphaModFix/>
          </a:blip>
          <a:stretch>
            <a:fillRect/>
          </a:stretch>
        </p:blipFill>
        <p:spPr>
          <a:xfrm>
            <a:off x="1404425" y="649100"/>
            <a:ext cx="6335150" cy="4244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7"/>
          <p:cNvPicPr preferRelativeResize="0"/>
          <p:nvPr/>
        </p:nvPicPr>
        <p:blipFill>
          <a:blip r:embed="rId3">
            <a:alphaModFix/>
          </a:blip>
          <a:stretch>
            <a:fillRect/>
          </a:stretch>
        </p:blipFill>
        <p:spPr>
          <a:xfrm>
            <a:off x="287175" y="2945900"/>
            <a:ext cx="8430174" cy="1898400"/>
          </a:xfrm>
          <a:prstGeom prst="rect">
            <a:avLst/>
          </a:prstGeom>
          <a:noFill/>
          <a:ln>
            <a:noFill/>
          </a:ln>
        </p:spPr>
      </p:pic>
      <p:pic>
        <p:nvPicPr>
          <p:cNvPr id="222" name="Google Shape;222;p27"/>
          <p:cNvPicPr preferRelativeResize="0"/>
          <p:nvPr/>
        </p:nvPicPr>
        <p:blipFill>
          <a:blip r:embed="rId4">
            <a:alphaModFix/>
          </a:blip>
          <a:stretch>
            <a:fillRect/>
          </a:stretch>
        </p:blipFill>
        <p:spPr>
          <a:xfrm>
            <a:off x="1828200" y="589725"/>
            <a:ext cx="7164749" cy="2191400"/>
          </a:xfrm>
          <a:prstGeom prst="rect">
            <a:avLst/>
          </a:prstGeom>
          <a:noFill/>
          <a:ln>
            <a:noFill/>
          </a:ln>
        </p:spPr>
      </p:pic>
      <p:sp>
        <p:nvSpPr>
          <p:cNvPr id="223" name="Google Shape;223;p27"/>
          <p:cNvSpPr txBox="1"/>
          <p:nvPr/>
        </p:nvSpPr>
        <p:spPr>
          <a:xfrm>
            <a:off x="149175" y="173550"/>
            <a:ext cx="1877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Times New Roman"/>
                <a:ea typeface="Times New Roman"/>
                <a:cs typeface="Times New Roman"/>
                <a:sym typeface="Times New Roman"/>
              </a:rPr>
              <a:t>Policy </a:t>
            </a:r>
            <a:r>
              <a:rPr lang="en" sz="2500">
                <a:solidFill>
                  <a:srgbClr val="A347F2"/>
                </a:solidFill>
                <a:latin typeface="Times New Roman"/>
                <a:ea typeface="Times New Roman"/>
                <a:cs typeface="Times New Roman"/>
                <a:sym typeface="Times New Roman"/>
              </a:rPr>
              <a:t>RAG </a:t>
            </a:r>
            <a:endParaRPr sz="2500">
              <a:solidFill>
                <a:srgbClr val="A347F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b="1" lang="en" sz="1400">
                <a:solidFill>
                  <a:srgbClr val="242424"/>
                </a:solidFill>
                <a:highlight>
                  <a:srgbClr val="FFFFFF"/>
                </a:highlight>
                <a:latin typeface="Times New Roman"/>
                <a:ea typeface="Times New Roman"/>
                <a:cs typeface="Times New Roman"/>
                <a:sym typeface="Times New Roman"/>
              </a:rPr>
              <a:t>RAGAS : R</a:t>
            </a:r>
            <a:r>
              <a:rPr lang="en" sz="1400">
                <a:solidFill>
                  <a:srgbClr val="242424"/>
                </a:solidFill>
                <a:highlight>
                  <a:srgbClr val="FFFFFF"/>
                </a:highlight>
                <a:latin typeface="Times New Roman"/>
                <a:ea typeface="Times New Roman"/>
                <a:cs typeface="Times New Roman"/>
                <a:sym typeface="Times New Roman"/>
              </a:rPr>
              <a:t>etrieval-</a:t>
            </a:r>
            <a:r>
              <a:rPr b="1" lang="en" sz="1400">
                <a:solidFill>
                  <a:srgbClr val="242424"/>
                </a:solidFill>
                <a:highlight>
                  <a:srgbClr val="FFFFFF"/>
                </a:highlight>
                <a:latin typeface="Times New Roman"/>
                <a:ea typeface="Times New Roman"/>
                <a:cs typeface="Times New Roman"/>
                <a:sym typeface="Times New Roman"/>
              </a:rPr>
              <a:t>A</a:t>
            </a:r>
            <a:r>
              <a:rPr lang="en" sz="1400">
                <a:solidFill>
                  <a:srgbClr val="242424"/>
                </a:solidFill>
                <a:highlight>
                  <a:srgbClr val="FFFFFF"/>
                </a:highlight>
                <a:latin typeface="Times New Roman"/>
                <a:ea typeface="Times New Roman"/>
                <a:cs typeface="Times New Roman"/>
                <a:sym typeface="Times New Roman"/>
              </a:rPr>
              <a:t>ugmented </a:t>
            </a:r>
            <a:r>
              <a:rPr b="1" lang="en" sz="1400">
                <a:solidFill>
                  <a:srgbClr val="242424"/>
                </a:solidFill>
                <a:highlight>
                  <a:srgbClr val="FFFFFF"/>
                </a:highlight>
                <a:latin typeface="Times New Roman"/>
                <a:ea typeface="Times New Roman"/>
                <a:cs typeface="Times New Roman"/>
                <a:sym typeface="Times New Roman"/>
              </a:rPr>
              <a:t>G</a:t>
            </a:r>
            <a:r>
              <a:rPr lang="en" sz="1400">
                <a:solidFill>
                  <a:srgbClr val="242424"/>
                </a:solidFill>
                <a:highlight>
                  <a:srgbClr val="FFFFFF"/>
                </a:highlight>
                <a:latin typeface="Times New Roman"/>
                <a:ea typeface="Times New Roman"/>
                <a:cs typeface="Times New Roman"/>
                <a:sym typeface="Times New Roman"/>
              </a:rPr>
              <a:t>eneration </a:t>
            </a:r>
            <a:r>
              <a:rPr b="1" lang="en" sz="1400">
                <a:solidFill>
                  <a:srgbClr val="242424"/>
                </a:solidFill>
                <a:highlight>
                  <a:srgbClr val="FFFFFF"/>
                </a:highlight>
                <a:latin typeface="Times New Roman"/>
                <a:ea typeface="Times New Roman"/>
                <a:cs typeface="Times New Roman"/>
                <a:sym typeface="Times New Roman"/>
              </a:rPr>
              <a:t>As</a:t>
            </a:r>
            <a:r>
              <a:rPr lang="en" sz="1400">
                <a:solidFill>
                  <a:srgbClr val="242424"/>
                </a:solidFill>
                <a:highlight>
                  <a:srgbClr val="FFFFFF"/>
                </a:highlight>
                <a:latin typeface="Times New Roman"/>
                <a:ea typeface="Times New Roman"/>
                <a:cs typeface="Times New Roman"/>
                <a:sym typeface="Times New Roman"/>
              </a:rPr>
              <a:t>sessment</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None/>
            </a:pPr>
            <a:r>
              <a:rPr lang="en" sz="1400">
                <a:solidFill>
                  <a:schemeClr val="dk1"/>
                </a:solidFill>
                <a:latin typeface="Times New Roman"/>
                <a:ea typeface="Times New Roman"/>
                <a:cs typeface="Times New Roman"/>
                <a:sym typeface="Times New Roman"/>
              </a:rPr>
              <a:t>Based on the policy document, we formulated questions directly linked to the facts it outlined. Several questions drew from multiple policies, addressing areas such as the accrual and validity of loyalty points, as well as refund eligibility, including considerations related to GST and shipping charges.</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Following Setup was used to perform Ragas evaluation:</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Question:</a:t>
            </a:r>
            <a:r>
              <a:rPr lang="en" sz="1400">
                <a:solidFill>
                  <a:schemeClr val="dk1"/>
                </a:solidFill>
                <a:latin typeface="Times New Roman"/>
                <a:ea typeface="Times New Roman"/>
                <a:cs typeface="Times New Roman"/>
                <a:sym typeface="Times New Roman"/>
              </a:rPr>
              <a:t> The user query provided as input to the RAG pipeline.</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LLM Answer:</a:t>
            </a:r>
            <a:r>
              <a:rPr lang="en" sz="1400">
                <a:solidFill>
                  <a:schemeClr val="dk1"/>
                </a:solidFill>
                <a:latin typeface="Times New Roman"/>
                <a:ea typeface="Times New Roman"/>
                <a:cs typeface="Times New Roman"/>
                <a:sym typeface="Times New Roman"/>
              </a:rPr>
              <a:t> The response generated by the RAG pipeline.</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Contexts:</a:t>
            </a:r>
            <a:r>
              <a:rPr lang="en" sz="1400">
                <a:solidFill>
                  <a:schemeClr val="dk1"/>
                </a:solidFill>
                <a:latin typeface="Times New Roman"/>
                <a:ea typeface="Times New Roman"/>
                <a:cs typeface="Times New Roman"/>
                <a:sym typeface="Times New Roman"/>
              </a:rPr>
              <a:t> The retrieved passages or documents from the external knowledge source that support the answer.</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None/>
            </a:pPr>
            <a:r>
              <a:rPr b="1" lang="en" sz="1400">
                <a:solidFill>
                  <a:schemeClr val="dk1"/>
                </a:solidFill>
                <a:latin typeface="Times New Roman"/>
                <a:ea typeface="Times New Roman"/>
                <a:cs typeface="Times New Roman"/>
                <a:sym typeface="Times New Roman"/>
              </a:rPr>
              <a:t>Ground Truths:</a:t>
            </a:r>
            <a:r>
              <a:rPr lang="en" sz="1400">
                <a:solidFill>
                  <a:schemeClr val="dk1"/>
                </a:solidFill>
                <a:latin typeface="Times New Roman"/>
                <a:ea typeface="Times New Roman"/>
                <a:cs typeface="Times New Roman"/>
                <a:sym typeface="Times New Roman"/>
              </a:rPr>
              <a:t> The correct or reference answer used to assess the pipeline’s performance.</a:t>
            </a:r>
            <a:endParaRPr sz="1400">
              <a:solidFill>
                <a:schemeClr val="dk1"/>
              </a:solidFill>
              <a:latin typeface="Times New Roman"/>
              <a:ea typeface="Times New Roman"/>
              <a:cs typeface="Times New Roman"/>
              <a:sym typeface="Times New Roman"/>
            </a:endParaRPr>
          </a:p>
          <a:p>
            <a:pPr indent="0" lvl="0" marL="0" rtl="0" algn="l">
              <a:lnSpc>
                <a:spcPct val="130000"/>
              </a:lnSpc>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1200"/>
              </a:spcAft>
              <a:buNone/>
            </a:pPr>
            <a:r>
              <a:rPr lang="en" sz="1400">
                <a:solidFill>
                  <a:schemeClr val="dk1"/>
                </a:solidFill>
                <a:latin typeface="Times New Roman"/>
                <a:ea typeface="Times New Roman"/>
                <a:cs typeface="Times New Roman"/>
                <a:sym typeface="Times New Roman"/>
              </a:rPr>
              <a:t>Link to Policy </a:t>
            </a:r>
            <a:r>
              <a:rPr lang="en" sz="1400">
                <a:solidFill>
                  <a:schemeClr val="dk1"/>
                </a:solidFill>
                <a:latin typeface="Times New Roman"/>
                <a:ea typeface="Times New Roman"/>
                <a:cs typeface="Times New Roman"/>
                <a:sym typeface="Times New Roman"/>
              </a:rPr>
              <a:t>Evaluation</a:t>
            </a:r>
            <a:r>
              <a:rPr lang="en" sz="1400">
                <a:solidFill>
                  <a:schemeClr val="dk1"/>
                </a:solidFill>
                <a:latin typeface="Times New Roman"/>
                <a:ea typeface="Times New Roman"/>
                <a:cs typeface="Times New Roman"/>
                <a:sym typeface="Times New Roman"/>
              </a:rPr>
              <a:t> RAGAS:</a:t>
            </a:r>
            <a:r>
              <a:rPr lang="en" sz="1400">
                <a:latin typeface="Times New Roman"/>
                <a:ea typeface="Times New Roman"/>
                <a:cs typeface="Times New Roman"/>
                <a:sym typeface="Times New Roman"/>
              </a:rPr>
              <a:t> </a:t>
            </a:r>
            <a:r>
              <a:rPr lang="en" sz="1400" u="sng">
                <a:solidFill>
                  <a:schemeClr val="hlink"/>
                </a:solidFill>
                <a:latin typeface="Times New Roman"/>
                <a:ea typeface="Times New Roman"/>
                <a:cs typeface="Times New Roman"/>
                <a:sym typeface="Times New Roman"/>
                <a:hlinkClick r:id="rId3"/>
              </a:rPr>
              <a:t>Evaluation</a:t>
            </a:r>
            <a:endParaRPr sz="1400">
              <a:latin typeface="Times New Roman"/>
              <a:ea typeface="Times New Roman"/>
              <a:cs typeface="Times New Roman"/>
              <a:sym typeface="Times New Roman"/>
            </a:endParaRPr>
          </a:p>
        </p:txBody>
      </p:sp>
      <p:sp>
        <p:nvSpPr>
          <p:cNvPr id="229" name="Google Shape;229;p28"/>
          <p:cNvSpPr txBox="1"/>
          <p:nvPr>
            <p:ph type="title"/>
          </p:nvPr>
        </p:nvSpPr>
        <p:spPr>
          <a:xfrm>
            <a:off x="311700" y="165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Evaluation</a:t>
            </a:r>
            <a:r>
              <a:rPr lang="en">
                <a:latin typeface="Times New Roman"/>
                <a:ea typeface="Times New Roman"/>
                <a:cs typeface="Times New Roman"/>
                <a:sym typeface="Times New Roman"/>
              </a:rPr>
              <a:t> on </a:t>
            </a:r>
            <a:r>
              <a:rPr lang="en">
                <a:solidFill>
                  <a:srgbClr val="A347F2"/>
                </a:solidFill>
                <a:latin typeface="Times New Roman"/>
                <a:ea typeface="Times New Roman"/>
                <a:cs typeface="Times New Roman"/>
                <a:sym typeface="Times New Roman"/>
              </a:rPr>
              <a:t>Policy RAG</a:t>
            </a:r>
            <a:endParaRPr b="1">
              <a:solidFill>
                <a:srgbClr val="A347F2"/>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idx="1" type="body"/>
          </p:nvPr>
        </p:nvSpPr>
        <p:spPr>
          <a:xfrm>
            <a:off x="311700" y="7384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Products stored in VDB</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Customer info, transactions stored in csv (can also be stored in RDB)</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User query along with customer context and chat history is used to create a prompt to search for relevant products in VDB</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The fetched products are reranked using LLM</a:t>
            </a:r>
            <a:endParaRPr>
              <a:solidFill>
                <a:schemeClr val="dk1"/>
              </a:solidFill>
              <a:latin typeface="Times New Roman"/>
              <a:ea typeface="Times New Roman"/>
              <a:cs typeface="Times New Roman"/>
              <a:sym typeface="Times New Roman"/>
            </a:endParaRPr>
          </a:p>
        </p:txBody>
      </p:sp>
      <p:pic>
        <p:nvPicPr>
          <p:cNvPr id="235" name="Google Shape;235;p29"/>
          <p:cNvPicPr preferRelativeResize="0"/>
          <p:nvPr/>
        </p:nvPicPr>
        <p:blipFill>
          <a:blip r:embed="rId3">
            <a:alphaModFix/>
          </a:blip>
          <a:stretch>
            <a:fillRect/>
          </a:stretch>
        </p:blipFill>
        <p:spPr>
          <a:xfrm>
            <a:off x="2167925" y="2532450"/>
            <a:ext cx="4808150" cy="2611050"/>
          </a:xfrm>
          <a:prstGeom prst="rect">
            <a:avLst/>
          </a:prstGeom>
          <a:noFill/>
          <a:ln>
            <a:noFill/>
          </a:ln>
        </p:spPr>
      </p:pic>
      <p:sp>
        <p:nvSpPr>
          <p:cNvPr id="236" name="Google Shape;236;p29"/>
          <p:cNvSpPr txBox="1"/>
          <p:nvPr>
            <p:ph type="title"/>
          </p:nvPr>
        </p:nvSpPr>
        <p:spPr>
          <a:xfrm>
            <a:off x="311700" y="165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rgbClr val="A347F2"/>
                </a:solidFill>
                <a:latin typeface="Times New Roman"/>
                <a:ea typeface="Times New Roman"/>
                <a:cs typeface="Times New Roman"/>
                <a:sym typeface="Times New Roman"/>
              </a:rPr>
              <a:t>Product</a:t>
            </a:r>
            <a:r>
              <a:rPr lang="en" sz="2620">
                <a:latin typeface="Times New Roman"/>
                <a:ea typeface="Times New Roman"/>
                <a:cs typeface="Times New Roman"/>
                <a:sym typeface="Times New Roman"/>
              </a:rPr>
              <a:t> RAG - Working</a:t>
            </a:r>
            <a:endParaRPr sz="262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311700" y="3070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rgbClr val="A347F2"/>
                </a:solidFill>
                <a:latin typeface="Times New Roman"/>
                <a:ea typeface="Times New Roman"/>
                <a:cs typeface="Times New Roman"/>
                <a:sym typeface="Times New Roman"/>
              </a:rPr>
              <a:t>Product</a:t>
            </a:r>
            <a:r>
              <a:rPr lang="en" sz="2620">
                <a:latin typeface="Times New Roman"/>
                <a:ea typeface="Times New Roman"/>
                <a:cs typeface="Times New Roman"/>
                <a:sym typeface="Times New Roman"/>
              </a:rPr>
              <a:t> RAG - Scoring</a:t>
            </a:r>
            <a:endParaRPr sz="2620">
              <a:latin typeface="Times New Roman"/>
              <a:ea typeface="Times New Roman"/>
              <a:cs typeface="Times New Roman"/>
              <a:sym typeface="Times New Roman"/>
            </a:endParaRPr>
          </a:p>
        </p:txBody>
      </p:sp>
      <p:sp>
        <p:nvSpPr>
          <p:cNvPr id="242" name="Google Shape;242;p30"/>
          <p:cNvSpPr txBox="1"/>
          <p:nvPr>
            <p:ph idx="1" type="body"/>
          </p:nvPr>
        </p:nvSpPr>
        <p:spPr>
          <a:xfrm>
            <a:off x="311700" y="950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The scoring and hyperparameter tuning of product RAG is explained.</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Setup: Came up with 10 queries, along </a:t>
            </a:r>
            <a:r>
              <a:rPr lang="en" sz="1400">
                <a:solidFill>
                  <a:schemeClr val="dk1"/>
                </a:solidFill>
                <a:latin typeface="Times New Roman"/>
                <a:ea typeface="Times New Roman"/>
                <a:cs typeface="Times New Roman"/>
                <a:sym typeface="Times New Roman"/>
              </a:rPr>
              <a:t>with</a:t>
            </a:r>
            <a:r>
              <a:rPr lang="en" sz="1400">
                <a:solidFill>
                  <a:schemeClr val="dk1"/>
                </a:solidFill>
                <a:latin typeface="Times New Roman"/>
                <a:ea typeface="Times New Roman"/>
                <a:cs typeface="Times New Roman"/>
                <a:sym typeface="Times New Roman"/>
              </a:rPr>
              <a:t> chat history, customer context (age, gender, transaction history). The queries were run through the chat bot and the results were scored manually.</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Scoring sheet link: </a:t>
            </a:r>
            <a:r>
              <a:rPr lang="en" sz="1300" u="sng">
                <a:solidFill>
                  <a:schemeClr val="hlink"/>
                </a:solidFill>
                <a:latin typeface="Times New Roman"/>
                <a:ea typeface="Times New Roman"/>
                <a:cs typeface="Times New Roman"/>
                <a:sym typeface="Times New Roman"/>
                <a:hlinkClick r:id="rId3"/>
              </a:rPr>
              <a:t>product_rag_scoring_sheet</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pic>
        <p:nvPicPr>
          <p:cNvPr id="243" name="Google Shape;243;p30" title="Chart"/>
          <p:cNvPicPr preferRelativeResize="0"/>
          <p:nvPr/>
        </p:nvPicPr>
        <p:blipFill>
          <a:blip r:embed="rId4">
            <a:alphaModFix/>
          </a:blip>
          <a:stretch>
            <a:fillRect/>
          </a:stretch>
        </p:blipFill>
        <p:spPr>
          <a:xfrm>
            <a:off x="430175" y="2514750"/>
            <a:ext cx="4251375" cy="2628750"/>
          </a:xfrm>
          <a:prstGeom prst="rect">
            <a:avLst/>
          </a:prstGeom>
          <a:noFill/>
          <a:ln>
            <a:noFill/>
          </a:ln>
        </p:spPr>
      </p:pic>
      <p:pic>
        <p:nvPicPr>
          <p:cNvPr id="244" name="Google Shape;244;p30" title="Chart"/>
          <p:cNvPicPr preferRelativeResize="0"/>
          <p:nvPr/>
        </p:nvPicPr>
        <p:blipFill>
          <a:blip r:embed="rId5">
            <a:alphaModFix/>
          </a:blip>
          <a:stretch>
            <a:fillRect/>
          </a:stretch>
        </p:blipFill>
        <p:spPr>
          <a:xfrm>
            <a:off x="4681544" y="2639488"/>
            <a:ext cx="4049625" cy="250401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type="title"/>
          </p:nvPr>
        </p:nvSpPr>
        <p:spPr>
          <a:xfrm>
            <a:off x="311700" y="178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Chatbot</a:t>
            </a:r>
            <a:r>
              <a:rPr lang="en"/>
              <a:t> </a:t>
            </a:r>
            <a:r>
              <a:rPr lang="en">
                <a:solidFill>
                  <a:srgbClr val="A347F2"/>
                </a:solidFill>
              </a:rPr>
              <a:t>Demo</a:t>
            </a:r>
            <a:endParaRPr>
              <a:solidFill>
                <a:srgbClr val="A347F2"/>
              </a:solidFill>
            </a:endParaRPr>
          </a:p>
        </p:txBody>
      </p:sp>
      <p:pic>
        <p:nvPicPr>
          <p:cNvPr id="250" name="Google Shape;250;p31"/>
          <p:cNvPicPr preferRelativeResize="0"/>
          <p:nvPr/>
        </p:nvPicPr>
        <p:blipFill>
          <a:blip r:embed="rId3">
            <a:alphaModFix/>
          </a:blip>
          <a:stretch>
            <a:fillRect/>
          </a:stretch>
        </p:blipFill>
        <p:spPr>
          <a:xfrm>
            <a:off x="449575" y="960125"/>
            <a:ext cx="3543300" cy="3619500"/>
          </a:xfrm>
          <a:prstGeom prst="rect">
            <a:avLst/>
          </a:prstGeom>
          <a:noFill/>
          <a:ln>
            <a:noFill/>
          </a:ln>
        </p:spPr>
      </p:pic>
      <p:pic>
        <p:nvPicPr>
          <p:cNvPr id="251" name="Google Shape;251;p31"/>
          <p:cNvPicPr preferRelativeResize="0"/>
          <p:nvPr/>
        </p:nvPicPr>
        <p:blipFill>
          <a:blip r:embed="rId4">
            <a:alphaModFix/>
          </a:blip>
          <a:stretch>
            <a:fillRect/>
          </a:stretch>
        </p:blipFill>
        <p:spPr>
          <a:xfrm>
            <a:off x="4343400" y="321800"/>
            <a:ext cx="4168125" cy="4736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311700" y="246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347F2"/>
                </a:solidFill>
              </a:rPr>
              <a:t>Individual</a:t>
            </a:r>
            <a:r>
              <a:rPr lang="en"/>
              <a:t> Contribution</a:t>
            </a:r>
            <a:endParaRPr/>
          </a:p>
        </p:txBody>
      </p:sp>
      <p:sp>
        <p:nvSpPr>
          <p:cNvPr id="257" name="Google Shape;257;p32"/>
          <p:cNvSpPr txBox="1"/>
          <p:nvPr>
            <p:ph idx="1" type="body"/>
          </p:nvPr>
        </p:nvSpPr>
        <p:spPr>
          <a:xfrm>
            <a:off x="311700" y="818825"/>
            <a:ext cx="8520600" cy="4173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Defining problem statement - All members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Literature review - All members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Policy dataset and EDA - Madhav, Harsha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Product dataset and EDA - Manish, Neeraj, Adarsh</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Policy Embedding - Madhav, Harsha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Product Embedding - Adarsh, Neeraj</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Chat flow - Manish, Madhav</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Policy RAG hyperparameter tuning - Madhav, Manish</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Product RAG hyperparameter tuning - Manish, Harsha, Neeraj, Adharsh</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Coding - All members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Policy and Product RAG testing - All members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Documentation and PPT - All members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Coordinators -  Manish, Harsha</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type="title"/>
          </p:nvPr>
        </p:nvSpPr>
        <p:spPr>
          <a:xfrm>
            <a:off x="3208650" y="2151150"/>
            <a:ext cx="2726700" cy="8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920"/>
              <a:t>Thank </a:t>
            </a:r>
            <a:r>
              <a:rPr b="1" lang="en" sz="3920">
                <a:solidFill>
                  <a:srgbClr val="A347F2"/>
                </a:solidFill>
              </a:rPr>
              <a:t>Y</a:t>
            </a:r>
            <a:r>
              <a:rPr b="1" lang="en" sz="3920">
                <a:solidFill>
                  <a:srgbClr val="A347F2"/>
                </a:solidFill>
              </a:rPr>
              <a:t>ou</a:t>
            </a:r>
            <a:endParaRPr b="1" sz="3920">
              <a:solidFill>
                <a:srgbClr val="A347F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